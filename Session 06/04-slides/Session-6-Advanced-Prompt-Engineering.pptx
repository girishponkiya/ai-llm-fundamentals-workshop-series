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We will not read slides today — you have the wiki for depth; this deck is the live structure. Three live demos, seven optional notebooks for self-study. Pull up MLflow at port 5000 to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Session 5 ceiling. Self-Consistency averages noise; it cannot vote its way out of a bad shared assumption. Today we add search, grounding, decomposition, and verification on top — the four levers that break this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shift: in Session 5 you wrote a prompt. In Session 6 you orchestrate them. The discipline scales by repetition — each step needs its own anatomy, validator, eval, cache key, injection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Stays on the deck for reference — we point back to it three times. Decision questions: which family fits this failure mode? do I have a verifier? The wiki has all 24 techniques; we cover only the ones that pay 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Density is highest in 2023, then a discontinuity in late 2024. Half the techniques in Block 3 are partially absorbed — we revisit which survive in Block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first because everyone knows it, then qualify it. The visceral demo moment: ToT scores the 13-8 branch higher than 8-7 — because the audience would have scored it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reframe of the 4%→74% headline. Most production tasks fail a USE-WHEN condition; the value-function trap is the most common error. Reach for ToT only when you can hand-verify intermediate states cheaply.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math is the whole slide. Engineers used to 99×99=98 don't internalise how fast LLM chains decay. Per-step pass-rate is the deliverable. Re-feeding the validator complaint is micro-Self-Refine.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Misconception 3: 'ReAct is just CoT with tool calls.' False — it's a loop. Forgetting stopping conditions ships infinite-loop agents to production. The hardening checklist 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Cheapest of the three. Never use for ground-truth queries. The decision rubric disambiguates the three techniques engineers conflate.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run D1, D2, D3 live. The other four ship in the repo for self-study. The notebooks are the practical worthiness of the session; the slides are scaffolding.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do nothing else from this deck, change every 'let's think step by step' to PS+ this week. Free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Engineers conflate these three. The pattern is identical; the difference is what gets abstracted. Pick by the failure mode you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techniques, one principle: ground the model with something deterministic. Without grounding, Self-Refine degrades performance (Misconception 0, slide 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compact techniques. SoT is the latency win when sections are independent. Auto-CoT replaces manual exemplar curation. Contrastive is for a specific recurrent error — show the right way and the wrong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past quickly. The two to name-drop: Reflexion (Self-Refine generalised across trials with an external verifier) and EmotionPrompt (2023 +115%, today a noisy A/B coin flip on frontier models).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most engineers photograph. Climb only when current rung's eval plateaus. Decision shortcuts let you skip layers when the task type is obvious; everything else is bottom-up climbing.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production cost overruns hide in the anti-patterns column. Run an ablation: disable one half, re-measure. If accuracy doesn't move, it's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three numbers: PnS is free (1.1×), ToT is 50×, SoT is the same tokens at 1/N wall-clock. The numbers, not opinions, decide the 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months ago 'let's think step by step' was foundational. Today, on the strongest models, it is an anti-pattern. Read the quotes verbatim — they answer half the questions you'll get. Use developer role, not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vendors converge: expose a budget knob, model decides how to spend it. Anthropic's `think` tool gives a deliberation slot mid-trajectory, +54% on Tau-Bench airline. Never mix budget params across vendors.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Internalise the right column — those compose with reasoning models. Numeric tasks always want PoT. Tool use always wants ReAct. Decomposition always wants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lines of MLflow turn any chain or agent into a debuggable, queryable, evaluable system. Autolog handles the boring part. This is the practical worthiness of Session 6 — the demos all run on these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you bring back to your team on Monday. Twelve lines replace your bespoke eval loop. @scorer turns any assertion into a metric. The technique with highest Correctness at lowest cost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most engineers don't know. 'Model reviews its own work, must improve' is wrong without grounding. The fix: give the critic info the generator didn't have. Self-Refine + ruff works; Self-Refine alone is a noise generator at N×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matters: without an eval set, none of the others matter. With Pydantic at every boundary, debugging drops an order of magnitude. With cache discipline, your $50/day pipeline becomes $5.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— which family, do I have a verifier, am I paying twice. The wiki has the rest. Session 7 turns these pipelines into production apps with tool schemas, FastAPI endpoints, end-to-end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floor. If silence: 'Who has a Self-Refine deployment without an external verifier?' or 'Who's using ToT on o3 today?' — both surface high-leverage, directly fixable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if running short. Reference for technical questions. Citations also in the wiki References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live demos, four take-home. All seven self-contained — three env vars and they run. MLflow is the tape recorder; replay every prompt and response from any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50292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DC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2815" y="50292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0B70A8"/>
                </a:solidFill>
                <a:latin typeface="Calibri"/>
              </a:rPr>
              <a:t>SESSION 6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1" i="0">
                <a:solidFill>
                  <a:srgbClr val="0B70A8"/>
                </a:solidFill>
                <a:latin typeface="Calibri"/>
              </a:rPr>
              <a:t>AI &amp; LLM FUNDAMENTALS FOR SOFTWARE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 i="0">
                <a:solidFill>
                  <a:srgbClr val="141820"/>
                </a:solidFill>
                <a:latin typeface="Calibri"/>
              </a:rPr>
              <a:t>Advanced Prompt
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70832"/>
            <a:ext cx="3108960" cy="54864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60" b="0" i="1">
                <a:solidFill>
                  <a:srgbClr val="444C59"/>
                </a:solidFill>
                <a:latin typeface="Calibri"/>
              </a:rPr>
              <a:t>From single prompts to orchestrated programs.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0911535" cy="548640"/>
          </a:xfrm>
          <a:prstGeom prst="roundRect">
            <a:avLst>
              <a:gd name="adj" fmla="val 12000"/>
            </a:avLst>
          </a:prstGeom>
          <a:solidFill>
            <a:srgbClr val="E6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64008" cy="548640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25780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B70A8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3 live demos · 7 take-home notebooks · spin up </a:t>
            </a:r>
            <a:r>
              <a:rPr sz="1400" b="0">
                <a:solidFill>
                  <a:srgbClr val="0E7490"/>
                </a:solidFill>
                <a:latin typeface="Consolas"/>
              </a:rPr>
              <a:t>MLflow :5000</a:t>
            </a:r>
            <a:r>
              <a:rPr sz="1510" b="0">
                <a:solidFill>
                  <a:srgbClr val="141820"/>
                </a:solidFill>
                <a:latin typeface="Calibri"/>
              </a:rPr>
              <a:t> and code along.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6053328"/>
            <a:ext cx="109728" cy="109728"/>
          </a:xfrm>
          <a:prstGeom prst="ellipse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0B70A8"/>
                </a:solidFill>
                <a:latin typeface="Calibri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Opening</a:t>
            </a:r>
          </a:p>
        </p:txBody>
      </p:sp>
      <p:sp>
        <p:nvSpPr>
          <p:cNvPr id="15" name="Oval 14"/>
          <p:cNvSpPr/>
          <p:nvPr/>
        </p:nvSpPr>
        <p:spPr>
          <a:xfrm>
            <a:off x="2004021" y="605332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86901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6D28D9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4021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The Map</a:t>
            </a:r>
          </a:p>
        </p:txBody>
      </p:sp>
      <p:sp>
        <p:nvSpPr>
          <p:cNvPr id="18" name="Oval 17"/>
          <p:cNvSpPr/>
          <p:nvPr/>
        </p:nvSpPr>
        <p:spPr>
          <a:xfrm>
            <a:off x="3367963" y="605332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0843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7963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Primary Techniques</a:t>
            </a:r>
          </a:p>
        </p:txBody>
      </p:sp>
      <p:sp>
        <p:nvSpPr>
          <p:cNvPr id="21" name="Oval 20"/>
          <p:cNvSpPr/>
          <p:nvPr/>
        </p:nvSpPr>
        <p:spPr>
          <a:xfrm>
            <a:off x="4731905" y="6053328"/>
            <a:ext cx="109728" cy="109728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4785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047857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1905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Secondary Techniques</a:t>
            </a:r>
          </a:p>
        </p:txBody>
      </p:sp>
      <p:sp>
        <p:nvSpPr>
          <p:cNvPr id="24" name="Oval 23"/>
          <p:cNvSpPr/>
          <p:nvPr/>
        </p:nvSpPr>
        <p:spPr>
          <a:xfrm>
            <a:off x="6095847" y="6053328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727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B4530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Ladder &amp; Composition</a:t>
            </a:r>
          </a:p>
        </p:txBody>
      </p:sp>
      <p:sp>
        <p:nvSpPr>
          <p:cNvPr id="27" name="Oval 26"/>
          <p:cNvSpPr/>
          <p:nvPr/>
        </p:nvSpPr>
        <p:spPr>
          <a:xfrm>
            <a:off x="7459789" y="6053328"/>
            <a:ext cx="109728" cy="109728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2669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BE185D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9789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Reasoning Models</a:t>
            </a:r>
          </a:p>
        </p:txBody>
      </p:sp>
      <p:sp>
        <p:nvSpPr>
          <p:cNvPr id="30" name="Oval 29"/>
          <p:cNvSpPr/>
          <p:nvPr/>
        </p:nvSpPr>
        <p:spPr>
          <a:xfrm>
            <a:off x="8823731" y="605332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611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1D4ED8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731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Production</a:t>
            </a:r>
          </a:p>
        </p:txBody>
      </p:sp>
      <p:sp>
        <p:nvSpPr>
          <p:cNvPr id="33" name="Oval 32"/>
          <p:cNvSpPr/>
          <p:nvPr/>
        </p:nvSpPr>
        <p:spPr>
          <a:xfrm>
            <a:off x="10187673" y="6053328"/>
            <a:ext cx="109728" cy="10972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0553" y="5989320"/>
            <a:ext cx="11810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1" i="0">
                <a:solidFill>
                  <a:srgbClr val="4338CA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7673" y="6263640"/>
            <a:ext cx="12725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C6573"/>
                </a:solidFill>
                <a:latin typeface="Calibri"/>
              </a:rPr>
              <a:t>Closing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B70A8"/>
                </a:solidFill>
                <a:latin typeface="Calibri"/>
              </a:rPr>
              <a:t>OPENING · WHY TODAY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The Session 5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Five reasoning chains. All voted the same. All wrong.</a:t>
            </a:r>
          </a:p>
        </p:txBody>
      </p:sp>
      <p:sp>
        <p:nvSpPr>
          <p:cNvPr id="7" name="Rounded Rectangle 6"/>
          <p:cNvSpPr/>
          <p:nvPr/>
        </p:nvSpPr>
        <p:spPr>
          <a:xfrm rot="21180000">
            <a:off x="1967332" y="1828800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180000">
            <a:off x="1967332" y="1975104"/>
            <a:ext cx="141732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573"/>
                </a:solidFill>
                <a:latin typeface="Calibri"/>
              </a:rPr>
              <a:t>CHAIN 1</a:t>
            </a:r>
          </a:p>
          <a:p>
            <a:pPr algn="ctr">
              <a:spcBef>
                <a:spcPts val="600"/>
              </a:spcBef>
            </a:pPr>
            <a:r>
              <a:rPr sz="1400" b="1">
                <a:solidFill>
                  <a:srgbClr val="B91C1C"/>
                </a:solidFill>
                <a:latin typeface="Calibri"/>
              </a:rPr>
              <a:t>DEPLOY
ROLLBACK</a:t>
            </a:r>
          </a:p>
        </p:txBody>
      </p:sp>
      <p:sp>
        <p:nvSpPr>
          <p:cNvPr id="9" name="Rounded Rectangle 8"/>
          <p:cNvSpPr/>
          <p:nvPr/>
        </p:nvSpPr>
        <p:spPr>
          <a:xfrm rot="21420000">
            <a:off x="3677260" y="1828800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21420000">
            <a:off x="3677260" y="1975104"/>
            <a:ext cx="141732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573"/>
                </a:solidFill>
                <a:latin typeface="Calibri"/>
              </a:rPr>
              <a:t>CHAIN 2</a:t>
            </a:r>
          </a:p>
          <a:p>
            <a:pPr algn="ctr">
              <a:spcBef>
                <a:spcPts val="600"/>
              </a:spcBef>
            </a:pPr>
            <a:r>
              <a:rPr sz="1400" b="1">
                <a:solidFill>
                  <a:srgbClr val="B91C1C"/>
                </a:solidFill>
                <a:latin typeface="Calibri"/>
              </a:rPr>
              <a:t>DEPLOY
ROLLBACK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188" y="1828800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7188" y="1975104"/>
            <a:ext cx="141732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573"/>
                </a:solidFill>
                <a:latin typeface="Calibri"/>
              </a:rPr>
              <a:t>CHAIN 3</a:t>
            </a:r>
          </a:p>
          <a:p>
            <a:pPr algn="ctr">
              <a:spcBef>
                <a:spcPts val="600"/>
              </a:spcBef>
            </a:pPr>
            <a:r>
              <a:rPr sz="1400" b="1">
                <a:solidFill>
                  <a:srgbClr val="B91C1C"/>
                </a:solidFill>
                <a:latin typeface="Calibri"/>
              </a:rPr>
              <a:t>DEPLOY
ROLLBACK</a:t>
            </a:r>
          </a:p>
        </p:txBody>
      </p:sp>
      <p:sp>
        <p:nvSpPr>
          <p:cNvPr id="13" name="Rounded Rectangle 12"/>
          <p:cNvSpPr/>
          <p:nvPr/>
        </p:nvSpPr>
        <p:spPr>
          <a:xfrm rot="240000">
            <a:off x="7097116" y="1828800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240000">
            <a:off x="7097116" y="1975104"/>
            <a:ext cx="141732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573"/>
                </a:solidFill>
                <a:latin typeface="Calibri"/>
              </a:rPr>
              <a:t>CHAIN 4</a:t>
            </a:r>
          </a:p>
          <a:p>
            <a:pPr algn="ctr">
              <a:spcBef>
                <a:spcPts val="600"/>
              </a:spcBef>
            </a:pPr>
            <a:r>
              <a:rPr sz="1400" b="1">
                <a:solidFill>
                  <a:srgbClr val="B91C1C"/>
                </a:solidFill>
                <a:latin typeface="Calibri"/>
              </a:rPr>
              <a:t>DEPLOY
ROLLBACK</a:t>
            </a:r>
          </a:p>
        </p:txBody>
      </p:sp>
      <p:sp>
        <p:nvSpPr>
          <p:cNvPr id="15" name="Rounded Rectangle 14"/>
          <p:cNvSpPr/>
          <p:nvPr/>
        </p:nvSpPr>
        <p:spPr>
          <a:xfrm rot="480000">
            <a:off x="8807044" y="1828800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480000">
            <a:off x="8807044" y="1975104"/>
            <a:ext cx="141732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573"/>
                </a:solidFill>
                <a:latin typeface="Calibri"/>
              </a:rPr>
              <a:t>CHAIN 5</a:t>
            </a:r>
          </a:p>
          <a:p>
            <a:pPr algn="ctr">
              <a:spcBef>
                <a:spcPts val="600"/>
              </a:spcBef>
            </a:pPr>
            <a:r>
              <a:rPr sz="1400" b="1">
                <a:solidFill>
                  <a:srgbClr val="B91C1C"/>
                </a:solidFill>
                <a:latin typeface="Calibri"/>
              </a:rPr>
              <a:t>DEPLOY
ROLLBACK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246120"/>
            <a:ext cx="6156655" cy="5029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246120"/>
            <a:ext cx="61566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✗  SELF-CONSISTENCY N=5  →  UNANIMOUS  →  WRONG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5318607" cy="141732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54864" cy="1417320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48614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620" b="1">
                <a:solidFill>
                  <a:srgbClr val="141820"/>
                </a:solidFill>
                <a:latin typeface="Calibri"/>
              </a:rPr>
              <a:t>Real RCA:</a:t>
            </a:r>
            <a:r>
              <a:rPr sz="1620" b="0">
                <a:solidFill>
                  <a:srgbClr val="141820"/>
                </a:solidFill>
                <a:latin typeface="Calibri"/>
              </a:rPr>
              <a:t> 5xx spike, 14:02:17 UTC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620" b="0">
                <a:solidFill>
                  <a:srgbClr val="141820"/>
                </a:solidFill>
                <a:latin typeface="Calibri"/>
              </a:rPr>
              <a:t>CoT + Self-Consistency, N=5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620" b="0">
                <a:solidFill>
                  <a:srgbClr val="141820"/>
                </a:solidFill>
                <a:latin typeface="Calibri"/>
              </a:rPr>
              <a:t>→ all 5 chains vote </a:t>
            </a:r>
            <a:r>
              <a:rPr sz="1620" b="1">
                <a:solidFill>
                  <a:srgbClr val="141820"/>
                </a:solidFill>
                <a:latin typeface="Calibri"/>
              </a:rPr>
              <a:t>“deploy rollback”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977639"/>
            <a:ext cx="5318607" cy="141732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3977639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11480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5803D"/>
                </a:solidFill>
                <a:latin typeface="Calibri"/>
              </a:rPr>
              <a:t>GROUND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4434840"/>
            <a:ext cx="486140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620" b="1">
                <a:solidFill>
                  <a:srgbClr val="141820"/>
                </a:solidFill>
                <a:latin typeface="Calibri"/>
              </a:rPr>
              <a:t>DB connection-pool exhaustion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620" b="0">
                <a:solidFill>
                  <a:srgbClr val="141820"/>
                </a:solidFill>
                <a:latin typeface="Calibri"/>
              </a:rPr>
              <a:t>Deploy was 9 minutes earlier — irrelevant.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2000"/>
            </a:avLst>
          </a:prstGeom>
          <a:solidFill>
            <a:srgbClr val="E6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650992"/>
            <a:ext cx="64008" cy="566928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650992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B70A8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Self-Consistency averages noise — it can't vote its way out of a shared bad assumption. Today we add </a:t>
            </a:r>
            <a:r>
              <a:rPr sz="1510" b="1">
                <a:solidFill>
                  <a:srgbClr val="141820"/>
                </a:solidFill>
                <a:latin typeface="Calibri"/>
              </a:rPr>
              <a:t>search, grounding, decomposition, verification</a:t>
            </a:r>
            <a:r>
              <a:rPr sz="1510" b="0">
                <a:solidFill>
                  <a:srgbClr val="141820"/>
                </a:solidFill>
                <a:latin typeface="Calibri"/>
              </a:rPr>
              <a:t>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00 — Opening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B70A8"/>
                </a:solidFill>
                <a:latin typeface="Calibri"/>
              </a:rPr>
              <a:t>OPENING · THE FRAMING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A prompt is no longer a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A prompt is now a control-flow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72887" cy="32004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272887" cy="54864"/>
          </a:xfrm>
          <a:prstGeom prst="rect">
            <a:avLst/>
          </a:prstGeom>
          <a:solidFill>
            <a:srgbClr val="949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0" b="1" i="0">
                <a:solidFill>
                  <a:srgbClr val="5C6573"/>
                </a:solidFill>
                <a:latin typeface="Calibri"/>
              </a:rPr>
              <a:t>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47242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90" b="1" i="0">
                <a:solidFill>
                  <a:srgbClr val="141820"/>
                </a:solidFill>
                <a:latin typeface="Calibri"/>
              </a:rPr>
              <a:t>A single LLM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18688"/>
            <a:ext cx="4724247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429000"/>
            <a:ext cx="118872" cy="118872"/>
          </a:xfrm>
          <a:prstGeom prst="ellipse">
            <a:avLst/>
          </a:prstGeom>
          <a:solidFill>
            <a:srgbClr val="949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3218688"/>
            <a:ext cx="402930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444C59"/>
                </a:solidFill>
                <a:latin typeface="Calibri"/>
              </a:rPr>
              <a:t>prompt  →  completion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4724247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3856" y="4050792"/>
            <a:ext cx="118872" cy="118872"/>
          </a:xfrm>
          <a:prstGeom prst="ellipse">
            <a:avLst/>
          </a:prstGeom>
          <a:solidFill>
            <a:srgbClr val="949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6464" y="3840480"/>
            <a:ext cx="402930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444C59"/>
                </a:solidFill>
                <a:latin typeface="Calibri"/>
              </a:rPr>
              <a:t>one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62272"/>
            <a:ext cx="4724247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" y="4672584"/>
            <a:ext cx="118872" cy="118872"/>
          </a:xfrm>
          <a:prstGeom prst="ellipse">
            <a:avLst/>
          </a:prstGeom>
          <a:solidFill>
            <a:srgbClr val="949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6464" y="4462272"/>
            <a:ext cx="402930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444C59"/>
                </a:solidFill>
                <a:latin typeface="Calibri"/>
              </a:rPr>
              <a:t>anatomy · CoT · self-consistency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1920240"/>
            <a:ext cx="5272887" cy="3200400"/>
          </a:xfrm>
          <a:prstGeom prst="roundRect">
            <a:avLst>
              <a:gd name="adj" fmla="val 4500"/>
            </a:avLst>
          </a:prstGeom>
          <a:solidFill>
            <a:srgbClr val="EDF4F8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920240"/>
            <a:ext cx="5272887" cy="54864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047" y="21945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70" b="1" i="0">
                <a:solidFill>
                  <a:srgbClr val="0B70A8"/>
                </a:solidFill>
                <a:latin typeface="Calibri"/>
              </a:rPr>
              <a:t>SESSION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2523744"/>
            <a:ext cx="47242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90" b="1" i="0">
                <a:solidFill>
                  <a:srgbClr val="141820"/>
                </a:solidFill>
                <a:latin typeface="Calibri"/>
              </a:rPr>
              <a:t>A multi-call program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3047" y="3218688"/>
            <a:ext cx="4724247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5B7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72503" y="3429000"/>
            <a:ext cx="118872" cy="118872"/>
          </a:xfrm>
          <a:prstGeom prst="ellipse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5111" y="3218688"/>
            <a:ext cx="402930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141820"/>
                </a:solidFill>
                <a:latin typeface="Calibri"/>
              </a:rPr>
              <a:t>DAG: 4 LLMs + 2 tools + 1 validator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47" y="3840480"/>
            <a:ext cx="4724247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5B7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72503" y="4050792"/>
            <a:ext cx="118872" cy="118872"/>
          </a:xfrm>
          <a:prstGeom prst="ellipse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5111" y="3840480"/>
            <a:ext cx="402930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141820"/>
                </a:solidFill>
                <a:latin typeface="Calibri"/>
              </a:rPr>
              <a:t>routed · evaluated · retried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047" y="4462272"/>
            <a:ext cx="4724247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5B7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72503" y="4672584"/>
            <a:ext cx="118872" cy="118872"/>
          </a:xfrm>
          <a:prstGeom prst="ellipse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5111" y="4462272"/>
            <a:ext cx="402930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141820"/>
                </a:solidFill>
                <a:latin typeface="Calibri"/>
              </a:rPr>
              <a:t>per-step pass-rate · DLQ · observability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40680"/>
            <a:ext cx="10911535" cy="713232"/>
          </a:xfrm>
          <a:prstGeom prst="roundRect">
            <a:avLst>
              <a:gd name="adj" fmla="val 12000"/>
            </a:avLst>
          </a:prstGeom>
          <a:solidFill>
            <a:srgbClr val="E6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440680"/>
            <a:ext cx="64008" cy="713232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440680"/>
            <a:ext cx="104543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B70A8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Same language, different semantics. Every Session 5 lesson still applies — now to </a:t>
            </a:r>
            <a:r>
              <a:rPr sz="1510" b="1">
                <a:solidFill>
                  <a:srgbClr val="141820"/>
                </a:solidFill>
                <a:latin typeface="Calibri"/>
              </a:rPr>
              <a:t>each sub-prompt</a:t>
            </a:r>
            <a:r>
              <a:rPr sz="1510" b="0">
                <a:solidFill>
                  <a:srgbClr val="141820"/>
                </a:solidFill>
                <a:latin typeface="Calibri"/>
              </a:rPr>
              <a:t> in the program (its own anatomy, validator, eval, cache key, injection defence).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00 — Opening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6D28D9"/>
                </a:solidFill>
                <a:latin typeface="Calibri"/>
              </a:rPr>
              <a:t>THE MAP · 20+ TECHNIQUES → 5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Five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Learn the patterns, not the 24 names.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992111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992111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93975"/>
            <a:ext cx="16629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41820"/>
                </a:solidFill>
                <a:latin typeface="Calibri"/>
              </a:rPr>
              <a:t>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52343"/>
            <a:ext cx="1662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5803D"/>
                </a:solidFill>
                <a:latin typeface="Calibri"/>
              </a:rPr>
              <a:t>split the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291839"/>
            <a:ext cx="1062167" cy="329184"/>
          </a:xfrm>
          <a:prstGeom prst="roundRect">
            <a:avLst>
              <a:gd name="adj" fmla="val 50000"/>
            </a:avLst>
          </a:prstGeom>
          <a:solidFill>
            <a:srgbClr val="ECF4EF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291839"/>
            <a:ext cx="10621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5803D"/>
                </a:solidFill>
                <a:latin typeface="Calibri"/>
              </a:rPr>
              <a:t>Chaining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712463"/>
            <a:ext cx="1577431" cy="329184"/>
          </a:xfrm>
          <a:prstGeom prst="roundRect">
            <a:avLst>
              <a:gd name="adj" fmla="val 50000"/>
            </a:avLst>
          </a:prstGeom>
          <a:solidFill>
            <a:srgbClr val="ECF4EF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12463"/>
            <a:ext cx="15774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5803D"/>
                </a:solidFill>
                <a:latin typeface="Calibri"/>
              </a:rPr>
              <a:t>Least-to-Most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133087"/>
            <a:ext cx="1680484" cy="329184"/>
          </a:xfrm>
          <a:prstGeom prst="roundRect">
            <a:avLst>
              <a:gd name="adj" fmla="val 50000"/>
            </a:avLst>
          </a:prstGeom>
          <a:solidFill>
            <a:srgbClr val="ECF4EF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33087"/>
            <a:ext cx="16804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5803D"/>
                </a:solidFill>
                <a:latin typeface="Calibri"/>
              </a:rPr>
              <a:t>Plan-and-Solve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553711"/>
            <a:ext cx="546902" cy="329184"/>
          </a:xfrm>
          <a:prstGeom prst="roundRect">
            <a:avLst>
              <a:gd name="adj" fmla="val 50000"/>
            </a:avLst>
          </a:prstGeom>
          <a:solidFill>
            <a:srgbClr val="ECF4EF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553711"/>
            <a:ext cx="5469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5803D"/>
                </a:solidFill>
                <a:latin typeface="Calibri"/>
              </a:rPr>
              <a:t>SoT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9935" y="1874519"/>
            <a:ext cx="1992111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69935" y="1874519"/>
            <a:ext cx="1992111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4527" y="2093975"/>
            <a:ext cx="16629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41820"/>
                </a:solidFill>
                <a:latin typeface="Calibri"/>
              </a:rPr>
              <a:t>Search /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4527" y="2752343"/>
            <a:ext cx="1662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0F766E"/>
                </a:solidFill>
                <a:latin typeface="Calibri"/>
              </a:rPr>
              <a:t>externalise the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4527" y="3291839"/>
            <a:ext cx="546902" cy="329184"/>
          </a:xfrm>
          <a:prstGeom prst="roundRect">
            <a:avLst>
              <a:gd name="adj" fmla="val 50000"/>
            </a:avLst>
          </a:prstGeom>
          <a:solidFill>
            <a:srgbClr val="EBF4F3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4527" y="3291839"/>
            <a:ext cx="5469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0F766E"/>
                </a:solidFill>
                <a:latin typeface="Calibri"/>
              </a:rPr>
              <a:t>ToT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34527" y="3712463"/>
            <a:ext cx="546902" cy="329184"/>
          </a:xfrm>
          <a:prstGeom prst="roundRect">
            <a:avLst>
              <a:gd name="adj" fmla="val 50000"/>
            </a:avLst>
          </a:prstGeom>
          <a:solidFill>
            <a:srgbClr val="EBF4F3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4527" y="3712463"/>
            <a:ext cx="5469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0F766E"/>
                </a:solidFill>
                <a:latin typeface="Calibri"/>
              </a:rPr>
              <a:t>GoT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4527" y="4133087"/>
            <a:ext cx="1062167" cy="329184"/>
          </a:xfrm>
          <a:prstGeom prst="roundRect">
            <a:avLst>
              <a:gd name="adj" fmla="val 50000"/>
            </a:avLst>
          </a:prstGeom>
          <a:solidFill>
            <a:srgbClr val="EBF4F3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4527" y="4133087"/>
            <a:ext cx="10621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0F766E"/>
                </a:solidFill>
                <a:latin typeface="Calibri"/>
              </a:rPr>
              <a:t>Maieutic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99791" y="1874519"/>
            <a:ext cx="1992111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99791" y="1874519"/>
            <a:ext cx="1992111" cy="548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64383" y="2093975"/>
            <a:ext cx="16629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41820"/>
                </a:solidFill>
                <a:latin typeface="Calibri"/>
              </a:rPr>
              <a:t>Self-Correction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4383" y="2752343"/>
            <a:ext cx="1662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BE185D"/>
                </a:solidFill>
                <a:latin typeface="Calibri"/>
              </a:rPr>
              <a:t>verify own work*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64383" y="3291839"/>
            <a:ext cx="1371325" cy="329184"/>
          </a:xfrm>
          <a:prstGeom prst="roundRect">
            <a:avLst>
              <a:gd name="adj" fmla="val 50000"/>
            </a:avLst>
          </a:prstGeom>
          <a:solidFill>
            <a:srgbClr val="F9ECF2"/>
          </a:solidFill>
          <a:ln w="9525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4383" y="3291839"/>
            <a:ext cx="1371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E185D"/>
                </a:solidFill>
                <a:latin typeface="Calibri"/>
              </a:rPr>
              <a:t>Self-Refine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64383" y="3712463"/>
            <a:ext cx="1165219" cy="329184"/>
          </a:xfrm>
          <a:prstGeom prst="roundRect">
            <a:avLst>
              <a:gd name="adj" fmla="val 50000"/>
            </a:avLst>
          </a:prstGeom>
          <a:solidFill>
            <a:srgbClr val="F9ECF2"/>
          </a:solidFill>
          <a:ln w="9525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4383" y="3712463"/>
            <a:ext cx="11652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E185D"/>
                </a:solidFill>
                <a:latin typeface="Calibri"/>
              </a:rPr>
              <a:t>Reflexion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64383" y="4133087"/>
            <a:ext cx="1680484" cy="329184"/>
          </a:xfrm>
          <a:prstGeom prst="roundRect">
            <a:avLst>
              <a:gd name="adj" fmla="val 50000"/>
            </a:avLst>
          </a:prstGeom>
          <a:solidFill>
            <a:srgbClr val="F9ECF2"/>
          </a:solidFill>
          <a:ln w="9525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64383" y="4133087"/>
            <a:ext cx="16804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E185D"/>
                </a:solidFill>
                <a:latin typeface="Calibri"/>
              </a:rPr>
              <a:t>Constitutional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29647" y="1874519"/>
            <a:ext cx="1992111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29647" y="1874519"/>
            <a:ext cx="1992111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4239" y="2093975"/>
            <a:ext cx="16629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41820"/>
                </a:solidFill>
                <a:latin typeface="Calibri"/>
              </a:rPr>
              <a:t>External Grounding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4239" y="2752343"/>
            <a:ext cx="1662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D4ED8"/>
                </a:solidFill>
                <a:latin typeface="Calibri"/>
              </a:rPr>
              <a:t>use a real tool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4239" y="3291839"/>
            <a:ext cx="753008" cy="329184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4239" y="3291839"/>
            <a:ext cx="7530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D4ED8"/>
                </a:solidFill>
                <a:latin typeface="Calibri"/>
              </a:rPr>
              <a:t>ReAct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4239" y="3712463"/>
            <a:ext cx="546902" cy="329184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4239" y="3712463"/>
            <a:ext cx="5469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D4ED8"/>
                </a:solidFill>
                <a:latin typeface="Calibri"/>
              </a:rPr>
              <a:t>PoT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4239" y="4133087"/>
            <a:ext cx="1577431" cy="329184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4239" y="4133087"/>
            <a:ext cx="15774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D4ED8"/>
                </a:solidFill>
                <a:latin typeface="Calibri"/>
              </a:rPr>
              <a:t>Gen-Knowledge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4239" y="4553711"/>
            <a:ext cx="1165219" cy="329184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4239" y="4553711"/>
            <a:ext cx="11652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D4ED8"/>
                </a:solidFill>
                <a:latin typeface="Calibri"/>
              </a:rPr>
              <a:t>Step-Back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9503" y="1874519"/>
            <a:ext cx="1992111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59503" y="1874519"/>
            <a:ext cx="1992111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24095" y="2093975"/>
            <a:ext cx="16629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41820"/>
                </a:solidFill>
                <a:latin typeface="Calibri"/>
              </a:rPr>
              <a:t>Exemplar / Context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4095" y="2752343"/>
            <a:ext cx="1662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B45309"/>
                </a:solidFill>
                <a:latin typeface="Calibri"/>
              </a:rPr>
              <a:t>shape the input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24095" y="3291839"/>
            <a:ext cx="1062167" cy="329184"/>
          </a:xfrm>
          <a:prstGeom prst="roundRect">
            <a:avLst>
              <a:gd name="adj" fmla="val 50000"/>
            </a:avLst>
          </a:prstGeom>
          <a:solidFill>
            <a:srgbClr val="F9F1EB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24095" y="3291839"/>
            <a:ext cx="10621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45309"/>
                </a:solidFill>
                <a:latin typeface="Calibri"/>
              </a:rPr>
              <a:t>Auto-CoT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24095" y="3712463"/>
            <a:ext cx="1268272" cy="329184"/>
          </a:xfrm>
          <a:prstGeom prst="roundRect">
            <a:avLst>
              <a:gd name="adj" fmla="val 50000"/>
            </a:avLst>
          </a:prstGeom>
          <a:solidFill>
            <a:srgbClr val="F9F1EB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4095" y="3712463"/>
            <a:ext cx="1268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45309"/>
                </a:solidFill>
                <a:latin typeface="Calibri"/>
              </a:rPr>
              <a:t>Analogical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24095" y="4133087"/>
            <a:ext cx="546902" cy="329184"/>
          </a:xfrm>
          <a:prstGeom prst="roundRect">
            <a:avLst>
              <a:gd name="adj" fmla="val 50000"/>
            </a:avLst>
          </a:prstGeom>
          <a:solidFill>
            <a:srgbClr val="F9F1EB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4095" y="4133087"/>
            <a:ext cx="5469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45309"/>
                </a:solidFill>
                <a:latin typeface="Calibri"/>
              </a:rPr>
              <a:t>S2A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24095" y="4553711"/>
            <a:ext cx="649955" cy="329184"/>
          </a:xfrm>
          <a:prstGeom prst="roundRect">
            <a:avLst>
              <a:gd name="adj" fmla="val 50000"/>
            </a:avLst>
          </a:prstGeom>
          <a:solidFill>
            <a:srgbClr val="F9F1EB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24095" y="4553711"/>
            <a:ext cx="64995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45309"/>
                </a:solidFill>
                <a:latin typeface="Calibri"/>
              </a:rPr>
              <a:t>ThoT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5486400"/>
            <a:ext cx="10911535" cy="658368"/>
          </a:xfrm>
          <a:prstGeom prst="roundRect">
            <a:avLst>
              <a:gd name="adj" fmla="val 12000"/>
            </a:avLst>
          </a:prstGeom>
          <a:solidFill>
            <a:srgbClr val="F0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" y="5486400"/>
            <a:ext cx="64008" cy="6583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" y="5486400"/>
            <a:ext cx="104543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6D28D9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Two decision questions carry the whole session: </a:t>
            </a:r>
            <a:r>
              <a:rPr sz="1510" b="1">
                <a:solidFill>
                  <a:srgbClr val="141820"/>
                </a:solidFill>
                <a:latin typeface="Calibri"/>
              </a:rPr>
              <a:t>which family fits this failure mode?</a:t>
            </a:r>
            <a:r>
              <a:rPr sz="1510" b="0">
                <a:solidFill>
                  <a:srgbClr val="141820"/>
                </a:solidFill>
                <a:latin typeface="Calibri"/>
              </a:rPr>
              <a:t> and </a:t>
            </a:r>
            <a:r>
              <a:rPr sz="1510" b="1">
                <a:solidFill>
                  <a:srgbClr val="141820"/>
                </a:solidFill>
                <a:latin typeface="Calibri"/>
              </a:rPr>
              <a:t>do I have a verifier?</a:t>
            </a:r>
            <a:r>
              <a:rPr sz="1510" b="0">
                <a:solidFill>
                  <a:srgbClr val="141820"/>
                </a:solidFill>
                <a:latin typeface="Calibri"/>
              </a:rPr>
              <a:t> (*verify own work needs an external signal — slide 25*)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01 — The Map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6D28D9"/>
                </a:solidFill>
                <a:latin typeface="Calibri"/>
              </a:rPr>
              <a:t>THE MAP · FIVE YEARS OF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Five years, one inflection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Half of these get absorbed into reasoning models in Sep 2024.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029200"/>
            <a:ext cx="10911535" cy="0"/>
          </a:xfrm>
          <a:prstGeom prst="line">
            <a:avLst/>
          </a:prstGeom>
          <a:ln w="22225">
            <a:solidFill>
              <a:srgbClr val="C2CBD4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22166" y="49743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48072"/>
            <a:ext cx="1673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2021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" y="4352544"/>
            <a:ext cx="1320393" cy="274320"/>
          </a:xfrm>
          <a:prstGeom prst="roundRect">
            <a:avLst>
              <a:gd name="adj" fmla="val 50000"/>
            </a:avLst>
          </a:prstGeom>
          <a:solidFill>
            <a:srgbClr val="E8ED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33" y="4352544"/>
            <a:ext cx="13203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D4ED8"/>
                </a:solidFill>
                <a:latin typeface="Calibri"/>
              </a:rPr>
              <a:t>Gen Knowledge</a:t>
            </a:r>
          </a:p>
        </p:txBody>
      </p:sp>
      <p:sp>
        <p:nvSpPr>
          <p:cNvPr id="12" name="Oval 11"/>
          <p:cNvSpPr/>
          <p:nvPr/>
        </p:nvSpPr>
        <p:spPr>
          <a:xfrm>
            <a:off x="3096066" y="49743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980" y="5148072"/>
            <a:ext cx="1673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2022 H1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3070" y="4352544"/>
            <a:ext cx="515721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3070" y="4352544"/>
            <a:ext cx="5157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0F766E"/>
                </a:solidFill>
                <a:latin typeface="Calibri"/>
              </a:rPr>
              <a:t>CoT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0033" y="3986784"/>
            <a:ext cx="1561795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0033" y="3986784"/>
            <a:ext cx="15617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0F766E"/>
                </a:solidFill>
                <a:latin typeface="Calibri"/>
              </a:rPr>
              <a:t>Self-Consistency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90734" y="3621024"/>
            <a:ext cx="1320393" cy="274320"/>
          </a:xfrm>
          <a:prstGeom prst="roundRect">
            <a:avLst>
              <a:gd name="adj" fmla="val 50000"/>
            </a:avLst>
          </a:prstGeom>
          <a:solidFill>
            <a:srgbClr val="E7F2EB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0734" y="3621024"/>
            <a:ext cx="13203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5803D"/>
                </a:solidFill>
                <a:latin typeface="Calibri"/>
              </a:rPr>
              <a:t>Least-to-Most</a:t>
            </a:r>
          </a:p>
        </p:txBody>
      </p:sp>
      <p:sp>
        <p:nvSpPr>
          <p:cNvPr id="20" name="Oval 19"/>
          <p:cNvSpPr/>
          <p:nvPr/>
        </p:nvSpPr>
        <p:spPr>
          <a:xfrm>
            <a:off x="4769967" y="49743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7881" y="5148072"/>
            <a:ext cx="1673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2022 H2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6503" y="4352544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E8ED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6503" y="435254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D4ED8"/>
                </a:solidFill>
                <a:latin typeface="Calibri"/>
              </a:rPr>
              <a:t>ReAct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5803" y="3986784"/>
            <a:ext cx="918057" cy="274320"/>
          </a:xfrm>
          <a:prstGeom prst="roundRect">
            <a:avLst>
              <a:gd name="adj" fmla="val 50000"/>
            </a:avLst>
          </a:prstGeom>
          <a:solidFill>
            <a:srgbClr val="F7EDE6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5803" y="3986784"/>
            <a:ext cx="91805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45309"/>
                </a:solidFill>
                <a:latin typeface="Calibri"/>
              </a:rPr>
              <a:t>Auto-CoT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6971" y="3621024"/>
            <a:ext cx="515721" cy="274320"/>
          </a:xfrm>
          <a:prstGeom prst="roundRect">
            <a:avLst>
              <a:gd name="adj" fmla="val 50000"/>
            </a:avLst>
          </a:prstGeom>
          <a:solidFill>
            <a:srgbClr val="E8ED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6971" y="3621024"/>
            <a:ext cx="5157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D4ED8"/>
                </a:solidFill>
                <a:latin typeface="Calibri"/>
              </a:rPr>
              <a:t>PoT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4401" y="3255264"/>
            <a:ext cx="1400860" cy="274320"/>
          </a:xfrm>
          <a:prstGeom prst="roundRect">
            <a:avLst>
              <a:gd name="adj" fmla="val 50000"/>
            </a:avLst>
          </a:prstGeom>
          <a:solidFill>
            <a:srgbClr val="F8E7EE"/>
          </a:solidFill>
          <a:ln w="9525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24401" y="3255264"/>
            <a:ext cx="14008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E185D"/>
                </a:solidFill>
                <a:latin typeface="Calibri"/>
              </a:rPr>
              <a:t>Constitutional</a:t>
            </a:r>
          </a:p>
        </p:txBody>
      </p:sp>
      <p:sp>
        <p:nvSpPr>
          <p:cNvPr id="30" name="Oval 29"/>
          <p:cNvSpPr/>
          <p:nvPr/>
        </p:nvSpPr>
        <p:spPr>
          <a:xfrm>
            <a:off x="6443868" y="49743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1781" y="5148072"/>
            <a:ext cx="1673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2023 H1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19002" y="4352544"/>
            <a:ext cx="1159459" cy="274320"/>
          </a:xfrm>
          <a:prstGeom prst="roundRect">
            <a:avLst>
              <a:gd name="adj" fmla="val 50000"/>
            </a:avLst>
          </a:prstGeom>
          <a:solidFill>
            <a:srgbClr val="F8E7EE"/>
          </a:solidFill>
          <a:ln w="9525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9002" y="4352544"/>
            <a:ext cx="11594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E185D"/>
                </a:solidFill>
                <a:latin typeface="Calibri"/>
              </a:rPr>
              <a:t>Self-Refine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99470" y="3986784"/>
            <a:ext cx="998524" cy="274320"/>
          </a:xfrm>
          <a:prstGeom prst="roundRect">
            <a:avLst>
              <a:gd name="adj" fmla="val 50000"/>
            </a:avLst>
          </a:prstGeom>
          <a:solidFill>
            <a:srgbClr val="F8E7EE"/>
          </a:solidFill>
          <a:ln w="9525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9470" y="3986784"/>
            <a:ext cx="9985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E185D"/>
                </a:solidFill>
                <a:latin typeface="Calibri"/>
              </a:rPr>
              <a:t>Reflexion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98302" y="3621024"/>
            <a:ext cx="1400860" cy="274320"/>
          </a:xfrm>
          <a:prstGeom prst="roundRect">
            <a:avLst>
              <a:gd name="adj" fmla="val 50000"/>
            </a:avLst>
          </a:prstGeom>
          <a:solidFill>
            <a:srgbClr val="E7F2EB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8302" y="3621024"/>
            <a:ext cx="14008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5803D"/>
                </a:solidFill>
                <a:latin typeface="Calibri"/>
              </a:rPr>
              <a:t>Plan-and-Solve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0871" y="3255264"/>
            <a:ext cx="515721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0871" y="3255264"/>
            <a:ext cx="5157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0F766E"/>
                </a:solidFill>
                <a:latin typeface="Calibri"/>
              </a:rPr>
              <a:t>ToT</a:t>
            </a:r>
          </a:p>
        </p:txBody>
      </p:sp>
      <p:sp>
        <p:nvSpPr>
          <p:cNvPr id="40" name="Oval 39"/>
          <p:cNvSpPr/>
          <p:nvPr/>
        </p:nvSpPr>
        <p:spPr>
          <a:xfrm>
            <a:off x="8117768" y="49743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5682" y="5148072"/>
            <a:ext cx="1673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2023 H2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14772" y="4352544"/>
            <a:ext cx="515721" cy="274320"/>
          </a:xfrm>
          <a:prstGeom prst="roundRect">
            <a:avLst>
              <a:gd name="adj" fmla="val 50000"/>
            </a:avLst>
          </a:prstGeom>
          <a:solidFill>
            <a:srgbClr val="E7F2EB"/>
          </a:solidFill>
          <a:ln w="9525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14772" y="4352544"/>
            <a:ext cx="5157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5803D"/>
                </a:solidFill>
                <a:latin typeface="Calibri"/>
              </a:rPr>
              <a:t>SoT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14772" y="3986784"/>
            <a:ext cx="515721" cy="274320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9525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14772" y="3986784"/>
            <a:ext cx="5157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0F766E"/>
                </a:solidFill>
                <a:latin typeface="Calibri"/>
              </a:rPr>
              <a:t>GoT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3136" y="3621024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F7EDE6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3136" y="362102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45309"/>
                </a:solidFill>
                <a:latin typeface="Calibri"/>
              </a:rPr>
              <a:t>Analogical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73370" y="3255264"/>
            <a:ext cx="998524" cy="274320"/>
          </a:xfrm>
          <a:prstGeom prst="roundRect">
            <a:avLst>
              <a:gd name="adj" fmla="val 50000"/>
            </a:avLst>
          </a:prstGeom>
          <a:solidFill>
            <a:srgbClr val="E8EDFB"/>
          </a:solidFill>
          <a:ln w="9525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73370" y="3255264"/>
            <a:ext cx="9985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1D4ED8"/>
                </a:solidFill>
                <a:latin typeface="Calibri"/>
              </a:rPr>
              <a:t>Step-Back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14772" y="2889504"/>
            <a:ext cx="515721" cy="274320"/>
          </a:xfrm>
          <a:prstGeom prst="roundRect">
            <a:avLst>
              <a:gd name="adj" fmla="val 50000"/>
            </a:avLst>
          </a:prstGeom>
          <a:solidFill>
            <a:srgbClr val="F7EDE6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4772" y="2889504"/>
            <a:ext cx="51572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45309"/>
                </a:solidFill>
                <a:latin typeface="Calibri"/>
              </a:rPr>
              <a:t>S2A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74538" y="2523744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F7EDE6"/>
          </a:solidFill>
          <a:ln w="9525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74538" y="2523744"/>
            <a:ext cx="5961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B45309"/>
                </a:solidFill>
                <a:latin typeface="Calibri"/>
              </a:rPr>
              <a:t>ThoT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65615" y="1965960"/>
            <a:ext cx="2286000" cy="2468880"/>
          </a:xfrm>
          <a:prstGeom prst="roundRect">
            <a:avLst>
              <a:gd name="adj" fmla="val 5000"/>
            </a:avLst>
          </a:prstGeom>
          <a:solidFill>
            <a:srgbClr val="FA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65615" y="1965960"/>
            <a:ext cx="2286000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08615.0" y="4434840"/>
            <a:ext cx="0.0" cy="594360"/>
          </a:xfrm>
          <a:prstGeom prst="line">
            <a:avLst/>
          </a:prstGeom>
          <a:ln w="2540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0308031" y="4928616"/>
            <a:ext cx="201168" cy="201168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65615" y="51572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B91C1C"/>
                </a:solidFill>
                <a:latin typeface="Calibri"/>
              </a:rPr>
              <a:t>Sep 2024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48495" y="2258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91C1C"/>
                </a:solidFill>
                <a:latin typeface="Calibri"/>
              </a:rPr>
              <a:t>⚠  THE BREAK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48495" y="26060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40" b="1" i="0">
                <a:solidFill>
                  <a:srgbClr val="141820"/>
                </a:solidFill>
                <a:latin typeface="Calibri"/>
              </a:rPr>
              <a:t>Reasoning
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48495" y="3593592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o1 · o3
Claude · Gemini
thinking modes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01 — The Map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PRIMARY · TREE OF THOUGHTS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Tree of Thoughts: the 4% → 74%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CoT is one straight line. ToT branches, scores, and searches.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108960" cy="14504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0" b="1" i="0">
                <a:solidFill>
                  <a:srgbClr val="B91C1C"/>
                </a:solidFill>
                <a:latin typeface="Calibri"/>
              </a:rPr>
              <a:t>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8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80" b="0" i="0">
                <a:solidFill>
                  <a:srgbClr val="444C59"/>
                </a:solidFill>
                <a:latin typeface="Calibri"/>
              </a:rPr>
              <a:t>CoT — one chain, commit early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2670048"/>
            <a:ext cx="2194560" cy="0"/>
          </a:xfrm>
          <a:prstGeom prst="line">
            <a:avLst/>
          </a:prstGeom>
          <a:ln w="31750">
            <a:solidFill>
              <a:srgbClr val="15803D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2395728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39572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40" b="1" i="0">
                <a:solidFill>
                  <a:srgbClr val="FFFFFF"/>
                </a:solidFill>
                <a:latin typeface="Calibri"/>
              </a:rPr>
              <a:t>+70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3108960" cy="14504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0" b="1" i="0">
                <a:solidFill>
                  <a:srgbClr val="15803D"/>
                </a:solidFill>
                <a:latin typeface="Calibri"/>
              </a:rPr>
              <a:t>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88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80" b="0" i="0">
                <a:solidFill>
                  <a:srgbClr val="444C59"/>
                </a:solidFill>
                <a:latin typeface="Calibri"/>
              </a:rPr>
              <a:t>ToT — propose · evaluate ·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057399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60" b="0" i="0">
                <a:solidFill>
                  <a:srgbClr val="5C6573"/>
                </a:solidFill>
                <a:latin typeface="Calibri"/>
              </a:rPr>
              <a:t>Game-of-24
GPT-4
Yao et al. 2023
arXiv:2305.10601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5272887" cy="178308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54864" cy="17830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41064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91C1C"/>
                </a:solidFill>
                <a:latin typeface="Calibri"/>
              </a:rPr>
              <a:t>READ WITH AN ASTERISK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76996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70" b="0">
                <a:solidFill>
                  <a:srgbClr val="141820"/>
                </a:solidFill>
                <a:latin typeface="Calibri"/>
              </a:rPr>
              <a:t>4 → 74 needs </a:t>
            </a:r>
            <a:r>
              <a:rPr sz="1570" b="1">
                <a:solidFill>
                  <a:srgbClr val="141820"/>
                </a:solidFill>
                <a:latin typeface="Calibri"/>
              </a:rPr>
              <a:t>catastrophic early-commit</a:t>
            </a:r>
            <a:r>
              <a:rPr sz="1570" b="0">
                <a:solidFill>
                  <a:srgbClr val="141820"/>
                </a:solidFill>
                <a:latin typeface="Calibri"/>
              </a:rPr>
              <a:t> + a </a:t>
            </a:r>
            <a:r>
              <a:rPr sz="1570" b="1">
                <a:solidFill>
                  <a:srgbClr val="141820"/>
                </a:solidFill>
                <a:latin typeface="Calibri"/>
              </a:rPr>
              <a:t>cheap, reliable evaluator</a:t>
            </a:r>
            <a:r>
              <a:rPr sz="1570" b="0">
                <a:solidFill>
                  <a:srgbClr val="141820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70" b="0">
                <a:solidFill>
                  <a:srgbClr val="141820"/>
                </a:solidFill>
                <a:latin typeface="Calibri"/>
              </a:rPr>
              <a:t>Most production tasks meet </a:t>
            </a:r>
            <a:r>
              <a:rPr sz="1570" b="1">
                <a:solidFill>
                  <a:srgbClr val="141820"/>
                </a:solidFill>
                <a:latin typeface="Calibri"/>
              </a:rPr>
              <a:t>neither</a:t>
            </a:r>
            <a:r>
              <a:rPr sz="1570" b="0">
                <a:solidFill>
                  <a:srgbClr val="141820"/>
                </a:solidFill>
                <a:latin typeface="Calibri"/>
              </a:rPr>
              <a:t> — so the headline rarely transfers.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3794760"/>
            <a:ext cx="5272887" cy="178308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9895" y="3959352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81063" y="3959352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82231" y="3959352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1687" y="3913632"/>
            <a:ext cx="42670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30" b="1" i="0">
                <a:solidFill>
                  <a:srgbClr val="0F766E"/>
                </a:solidFill>
                <a:latin typeface="Calibri"/>
              </a:rPr>
              <a:t>tree-of-thoughts (BFS)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759" y="4178808"/>
            <a:ext cx="4760823" cy="1216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>
                <a:solidFill>
                  <a:srgbClr val="A626A4"/>
                </a:solidFill>
                <a:latin typeface="Consolas"/>
              </a:rPr>
              <a:t>def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tot_bfs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state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propose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evaluate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beam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986801"/>
                </a:solidFill>
                <a:latin typeface="Consolas"/>
              </a:rPr>
              <a:t>3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depth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986801"/>
                </a:solidFill>
                <a:latin typeface="Consolas"/>
              </a:rPr>
              <a:t>4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</a:t>
            </a:r>
            <a:r>
              <a:rPr sz="900">
                <a:solidFill>
                  <a:srgbClr val="383A42"/>
                </a:solidFill>
                <a:latin typeface="Consolas"/>
              </a:rPr>
              <a:t>frontier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[</a:t>
            </a:r>
            <a:r>
              <a:rPr sz="900">
                <a:solidFill>
                  <a:srgbClr val="383A42"/>
                </a:solidFill>
                <a:latin typeface="Consolas"/>
              </a:rPr>
              <a:t>state</a:t>
            </a:r>
            <a:r>
              <a:rPr sz="900">
                <a:solidFill>
                  <a:srgbClr val="383A42"/>
                </a:solidFill>
                <a:latin typeface="Consolas"/>
              </a:rPr>
              <a:t>]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</a:t>
            </a:r>
            <a:r>
              <a:rPr sz="900">
                <a:solidFill>
                  <a:srgbClr val="A626A4"/>
                </a:solidFill>
                <a:latin typeface="Consolas"/>
              </a:rPr>
              <a:t>for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_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in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range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depth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    </a:t>
            </a:r>
            <a:r>
              <a:rPr sz="900">
                <a:solidFill>
                  <a:srgbClr val="383A42"/>
                </a:solidFill>
                <a:latin typeface="Consolas"/>
              </a:rPr>
              <a:t>kids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[</a:t>
            </a:r>
            <a:r>
              <a:rPr sz="900">
                <a:solidFill>
                  <a:srgbClr val="383A42"/>
                </a:solidFill>
                <a:latin typeface="Consolas"/>
              </a:rPr>
              <a:t>c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for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s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in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frontier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for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c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in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propose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s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]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    </a:t>
            </a:r>
            <a:r>
              <a:rPr sz="900">
                <a:solidFill>
                  <a:srgbClr val="383A42"/>
                </a:solidFill>
                <a:latin typeface="Consolas"/>
              </a:rPr>
              <a:t>frontier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sorted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kids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key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evaluate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                      </a:t>
            </a:r>
            <a:r>
              <a:rPr sz="900">
                <a:solidFill>
                  <a:srgbClr val="383A42"/>
                </a:solidFill>
                <a:latin typeface="Consolas"/>
              </a:rPr>
              <a:t>reverse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986801"/>
                </a:solidFill>
                <a:latin typeface="Consolas"/>
              </a:rPr>
              <a:t>True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[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beam</a:t>
            </a:r>
            <a:r>
              <a:rPr sz="900">
                <a:solidFill>
                  <a:srgbClr val="383A42"/>
                </a:solidFill>
                <a:latin typeface="Consolas"/>
              </a:rPr>
              <a:t>]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</a:t>
            </a:r>
            <a:r>
              <a:rPr sz="900">
                <a:solidFill>
                  <a:srgbClr val="A626A4"/>
                </a:solidFill>
                <a:latin typeface="Consolas"/>
              </a:rPr>
              <a:t>return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frontier</a:t>
            </a:r>
            <a:r>
              <a:rPr sz="900">
                <a:solidFill>
                  <a:srgbClr val="383A42"/>
                </a:solidFill>
                <a:latin typeface="Consolas"/>
              </a:rPr>
              <a:t>[</a:t>
            </a:r>
            <a:r>
              <a:rPr sz="900">
                <a:solidFill>
                  <a:srgbClr val="986801"/>
                </a:solidFill>
                <a:latin typeface="Consolas"/>
              </a:rPr>
              <a:t>0</a:t>
            </a:r>
            <a:r>
              <a:rPr sz="900">
                <a:solidFill>
                  <a:srgbClr val="383A42"/>
                </a:solidFill>
                <a:latin typeface="Consolas"/>
              </a:rPr>
              <a:t>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02 — Primary Techniques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PRIMARY · TOT IN YOUR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ToT for incident root-cause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Four hypotheses. Two expand, two prune — by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74519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14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10" b="1" i="0">
                <a:solidFill>
                  <a:srgbClr val="FFFFFF"/>
                </a:solidFill>
                <a:latin typeface="Calibri"/>
              </a:rPr>
              <a:t>5xx spike @ 14:02 UTC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408176.0" y="2423159"/>
            <a:ext cx="2615184.0" cy="640081"/>
          </a:xfrm>
          <a:prstGeom prst="line">
            <a:avLst/>
          </a:prstGeom>
          <a:ln w="15875">
            <a:solidFill>
              <a:srgbClr val="A1A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063240"/>
            <a:ext cx="1536192" cy="137160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8AB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91256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DB pool exhaustion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72160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FFFFFF"/>
                </a:solidFill>
                <a:latin typeface="Calibri"/>
              </a:rPr>
              <a:t>8/10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87368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5803D"/>
                </a:solidFill>
                <a:latin typeface="Calibri"/>
              </a:rPr>
              <a:t>✓ expand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151632.0" y="2423159"/>
            <a:ext cx="871728.0" cy="640081"/>
          </a:xfrm>
          <a:prstGeom prst="line">
            <a:avLst/>
          </a:prstGeom>
          <a:ln w="15875">
            <a:solidFill>
              <a:srgbClr val="A1A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83536" y="3063240"/>
            <a:ext cx="1536192" cy="137160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8AB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74976" y="3191256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Downstream timeout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7584" y="372160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7584" y="3721608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FFFFFF"/>
                </a:solidFill>
                <a:latin typeface="Calibri"/>
              </a:rPr>
              <a:t>6/10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3536" y="4087368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15803D"/>
                </a:solidFill>
                <a:latin typeface="Calibri"/>
              </a:rPr>
              <a:t>✓ expand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2423159"/>
            <a:ext cx="871728.0" cy="640081"/>
          </a:xfrm>
          <a:prstGeom prst="line">
            <a:avLst/>
          </a:prstGeom>
          <a:ln w="15875">
            <a:solidFill>
              <a:srgbClr val="A1A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26992" y="3063240"/>
            <a:ext cx="1536192" cy="1371600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DC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8432" y="3191256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GC pause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11040" y="372160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1040" y="3721608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FFFFFF"/>
                </a:solidFill>
                <a:latin typeface="Calibri"/>
              </a:rPr>
              <a:t>3/10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6992" y="4087368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91C1C"/>
                </a:solidFill>
                <a:latin typeface="Calibri"/>
              </a:rPr>
              <a:t>✗ prune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2423159"/>
            <a:ext cx="2615184.0" cy="640081"/>
          </a:xfrm>
          <a:prstGeom prst="line">
            <a:avLst/>
          </a:prstGeom>
          <a:ln w="15875">
            <a:solidFill>
              <a:srgbClr val="A1A2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70448" y="3063240"/>
            <a:ext cx="1536192" cy="1371600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DC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3191256"/>
            <a:ext cx="1353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Deploy rollback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72160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721608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60" b="1" i="0">
                <a:solidFill>
                  <a:srgbClr val="FFFFFF"/>
                </a:solidFill>
                <a:latin typeface="Calibri"/>
              </a:rPr>
              <a:t>2/10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4087368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90" b="1" i="0">
                <a:solidFill>
                  <a:srgbClr val="B91C1C"/>
                </a:solidFill>
                <a:latin typeface="Calibri"/>
              </a:rPr>
              <a:t>✗ prune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6766560" cy="658368"/>
          </a:xfrm>
          <a:prstGeom prst="roundRect">
            <a:avLst>
              <a:gd name="adj" fmla="val 4500"/>
            </a:avLst>
          </a:prstGeom>
          <a:solidFill>
            <a:srgbClr val="FAEFE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754880"/>
            <a:ext cx="54864" cy="6583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84632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460" b="1">
                <a:solidFill>
                  <a:srgbClr val="141820"/>
                </a:solidFill>
                <a:latin typeface="Calibri"/>
              </a:rPr>
              <a:t>Contrast:</a:t>
            </a:r>
            <a:r>
              <a:rPr sz="1460" b="0">
                <a:solidFill>
                  <a:srgbClr val="141820"/>
                </a:solidFill>
                <a:latin typeface="Calibri"/>
              </a:rPr>
              <a:t> Self-Consistency voted </a:t>
            </a:r>
            <a:r>
              <a:rPr sz="1460" b="1">
                <a:solidFill>
                  <a:srgbClr val="141820"/>
                </a:solidFill>
                <a:latin typeface="Calibri"/>
              </a:rPr>
              <a:t>5/5</a:t>
            </a:r>
            <a:r>
              <a:rPr sz="1460" b="0">
                <a:solidFill>
                  <a:srgbClr val="141820"/>
                </a:solidFill>
                <a:latin typeface="Calibri"/>
              </a:rPr>
              <a:t> for *deploy rollback* — ToT's evaluator prunes it at </a:t>
            </a:r>
            <a:r>
              <a:rPr sz="1460" b="1">
                <a:solidFill>
                  <a:srgbClr val="141820"/>
                </a:solidFill>
                <a:latin typeface="Calibri"/>
              </a:rPr>
              <a:t>2/10</a:t>
            </a:r>
            <a:r>
              <a:rPr sz="1460" b="0">
                <a:solidFill>
                  <a:srgbClr val="141820"/>
                </a:solidFill>
                <a:latin typeface="Calibri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80" y="1874519"/>
            <a:ext cx="3824935" cy="160020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8AB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1993392"/>
            <a:ext cx="3459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USE WHEN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2331720"/>
            <a:ext cx="34225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60" b="1">
                <a:solidFill>
                  <a:srgbClr val="15803D"/>
                </a:solidFill>
                <a:latin typeface="Calibri"/>
              </a:rPr>
              <a:t>•  </a:t>
            </a:r>
            <a:r>
              <a:rPr sz="1460" b="0">
                <a:solidFill>
                  <a:srgbClr val="141820"/>
                </a:solidFill>
                <a:latin typeface="Calibri"/>
              </a:rPr>
              <a:t>clear intermediate states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460" b="1">
                <a:solidFill>
                  <a:srgbClr val="15803D"/>
                </a:solidFill>
                <a:latin typeface="Calibri"/>
              </a:rPr>
              <a:t>•  </a:t>
            </a:r>
            <a:r>
              <a:rPr sz="1460" b="0">
                <a:solidFill>
                  <a:srgbClr val="141820"/>
                </a:solidFill>
                <a:latin typeface="Calibri"/>
              </a:rPr>
              <a:t>cheap, reliable evaluator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460" b="1">
                <a:solidFill>
                  <a:srgbClr val="15803D"/>
                </a:solidFill>
                <a:latin typeface="Calibri"/>
              </a:rPr>
              <a:t>•  </a:t>
            </a:r>
            <a:r>
              <a:rPr sz="1460" b="0">
                <a:solidFill>
                  <a:srgbClr val="141820"/>
                </a:solidFill>
                <a:latin typeface="Calibri"/>
              </a:rPr>
              <a:t>tolerant of 30–50× tokens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80" y="3611880"/>
            <a:ext cx="3824935" cy="2194560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DC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3749039"/>
            <a:ext cx="3459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91C1C"/>
                </a:solidFill>
                <a:latin typeface="Calibri"/>
              </a:rPr>
              <a:t>DON'T USE WHEN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7848" y="4114800"/>
            <a:ext cx="342259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60" b="1">
                <a:solidFill>
                  <a:srgbClr val="B91C1C"/>
                </a:solidFill>
                <a:latin typeface="Calibri"/>
              </a:rPr>
              <a:t>•  </a:t>
            </a:r>
            <a:r>
              <a:rPr sz="1460" b="0">
                <a:solidFill>
                  <a:srgbClr val="141820"/>
                </a:solidFill>
                <a:latin typeface="Calibri"/>
              </a:rPr>
              <a:t>value function is unreliable (search amplifies bad evaluators)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60" b="1">
                <a:solidFill>
                  <a:srgbClr val="B91C1C"/>
                </a:solidFill>
                <a:latin typeface="Calibri"/>
              </a:rPr>
              <a:t>•  </a:t>
            </a:r>
            <a:r>
              <a:rPr sz="1460" b="0">
                <a:solidFill>
                  <a:srgbClr val="141820"/>
                </a:solidFill>
                <a:latin typeface="Calibri"/>
              </a:rPr>
              <a:t>you're on a reasoning model (paying twice)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60" b="1">
                <a:solidFill>
                  <a:srgbClr val="B91C1C"/>
                </a:solidFill>
                <a:latin typeface="Calibri"/>
              </a:rPr>
              <a:t>•  </a:t>
            </a:r>
            <a:r>
              <a:rPr sz="1460" b="0">
                <a:solidFill>
                  <a:srgbClr val="141820"/>
                </a:solidFill>
                <a:latin typeface="Calibri"/>
              </a:rPr>
              <a:t>real-time UX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02 — Primary Techniques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PRIMARY · PROMPT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Prompt chaining: the 62% accuracy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0.95 × 0.92 × 0.88 × 0.80 = 62%. Chains decay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020824"/>
            <a:ext cx="3657600" cy="274320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020824"/>
            <a:ext cx="347472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classify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523744"/>
            <a:ext cx="3657600" cy="274320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2523744"/>
            <a:ext cx="3364992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prioritise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026664"/>
            <a:ext cx="3657600" cy="274320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0240" y="3026664"/>
            <a:ext cx="3218688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9718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respond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529584"/>
            <a:ext cx="3657600" cy="274320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20240" y="3529584"/>
            <a:ext cx="292608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47472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80%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3995928"/>
            <a:ext cx="612648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12394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B91C1C"/>
                </a:solidFill>
                <a:latin typeface="Calibri"/>
              </a:rPr>
              <a:t>end-to-end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178808"/>
            <a:ext cx="3657600" cy="274320"/>
          </a:xfrm>
          <a:prstGeom prst="rect">
            <a:avLst/>
          </a:prstGeom>
          <a:solidFill>
            <a:srgbClr val="F4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20240" y="4178808"/>
            <a:ext cx="2267712" cy="2743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123944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B91C1C"/>
                </a:solidFill>
                <a:latin typeface="Calibri"/>
              </a:rPr>
              <a:t>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2686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5803D"/>
                </a:solidFill>
                <a:latin typeface="Calibri"/>
              </a:rPr>
              <a:t>fix step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4681728"/>
            <a:ext cx="3657600" cy="274320"/>
          </a:xfrm>
          <a:prstGeom prst="rect">
            <a:avLst/>
          </a:prstGeom>
          <a:solidFill>
            <a:srgbClr val="DB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4681728"/>
            <a:ext cx="2596896" cy="274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4626864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5803D"/>
                </a:solidFill>
                <a:latin typeface="Calibri"/>
              </a:rPr>
              <a:t>71%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1965960"/>
            <a:ext cx="4465015" cy="2331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7768" y="2130552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88936" y="2130552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90104" y="2130552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2084832"/>
            <a:ext cx="34591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30" b="1" i="0">
                <a:solidFill>
                  <a:srgbClr val="0F766E"/>
                </a:solidFill>
                <a:latin typeface="Calibri"/>
              </a:rPr>
              <a:t>validate + retry-with-feedback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2" y="2350008"/>
            <a:ext cx="3952951" cy="1764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00">
                <a:solidFill>
                  <a:srgbClr val="9A6700"/>
                </a:solidFill>
                <a:latin typeface="Consolas"/>
              </a:rPr>
              <a:t>@mlflow.trace</a:t>
            </a:r>
            <a:r>
              <a:rPr sz="800">
                <a:solidFill>
                  <a:srgbClr val="383A42"/>
                </a:solidFill>
                <a:latin typeface="Consolas"/>
              </a:rPr>
              <a:t>(</a:t>
            </a:r>
            <a:r>
              <a:rPr sz="800">
                <a:solidFill>
                  <a:srgbClr val="383A42"/>
                </a:solidFill>
                <a:latin typeface="Consolas"/>
              </a:rPr>
              <a:t>span_type</a:t>
            </a:r>
            <a:r>
              <a:rPr sz="800">
                <a:solidFill>
                  <a:srgbClr val="383A42"/>
                </a:solidFill>
                <a:latin typeface="Consolas"/>
              </a:rPr>
              <a:t>=</a:t>
            </a:r>
            <a:r>
              <a:rPr sz="800">
                <a:solidFill>
                  <a:srgbClr val="383A42"/>
                </a:solidFill>
                <a:latin typeface="Consolas"/>
              </a:rPr>
              <a:t>SpanType</a:t>
            </a:r>
            <a:r>
              <a:rPr sz="800">
                <a:solidFill>
                  <a:srgbClr val="383A42"/>
                </a:solidFill>
                <a:latin typeface="Consolas"/>
              </a:rPr>
              <a:t>.</a:t>
            </a:r>
            <a:r>
              <a:rPr sz="800">
                <a:solidFill>
                  <a:srgbClr val="383A42"/>
                </a:solidFill>
                <a:latin typeface="Consolas"/>
              </a:rPr>
              <a:t>LLM</a:t>
            </a:r>
            <a:r>
              <a:rPr sz="8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A626A4"/>
                </a:solidFill>
                <a:latin typeface="Consolas"/>
              </a:rPr>
              <a:t>def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2563EB"/>
                </a:solidFill>
                <a:latin typeface="Consolas"/>
              </a:rPr>
              <a:t>run_step</a:t>
            </a:r>
            <a:r>
              <a:rPr sz="800">
                <a:solidFill>
                  <a:srgbClr val="383A42"/>
                </a:solidFill>
                <a:latin typeface="Consolas"/>
              </a:rPr>
              <a:t>(</a:t>
            </a:r>
            <a:r>
              <a:rPr sz="800">
                <a:solidFill>
                  <a:srgbClr val="383A42"/>
                </a:solidFill>
                <a:latin typeface="Consolas"/>
              </a:rPr>
              <a:t>prompt</a:t>
            </a:r>
            <a:r>
              <a:rPr sz="800">
                <a:solidFill>
                  <a:srgbClr val="383A42"/>
                </a:solidFill>
                <a:latin typeface="Consolas"/>
              </a:rPr>
              <a:t>,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schema</a:t>
            </a:r>
            <a:r>
              <a:rPr sz="800">
                <a:solidFill>
                  <a:srgbClr val="383A42"/>
                </a:solidFill>
                <a:latin typeface="Consolas"/>
              </a:rPr>
              <a:t>,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max_retries</a:t>
            </a:r>
            <a:r>
              <a:rPr sz="800">
                <a:solidFill>
                  <a:srgbClr val="383A42"/>
                </a:solidFill>
                <a:latin typeface="Consolas"/>
              </a:rPr>
              <a:t>=</a:t>
            </a:r>
            <a:r>
              <a:rPr sz="800">
                <a:solidFill>
                  <a:srgbClr val="986801"/>
                </a:solidFill>
                <a:latin typeface="Consolas"/>
              </a:rPr>
              <a:t>2</a:t>
            </a:r>
            <a:r>
              <a:rPr sz="800">
                <a:solidFill>
                  <a:srgbClr val="383A42"/>
                </a:solidFill>
                <a:latin typeface="Consolas"/>
              </a:rPr>
              <a:t>)</a:t>
            </a:r>
            <a:r>
              <a:rPr sz="8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383A42"/>
                </a:solidFill>
                <a:latin typeface="Consolas"/>
              </a:rPr>
              <a:t>    </a:t>
            </a:r>
            <a:r>
              <a:rPr sz="800">
                <a:solidFill>
                  <a:srgbClr val="A626A4"/>
                </a:solidFill>
                <a:latin typeface="Consolas"/>
              </a:rPr>
              <a:t>for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_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A626A4"/>
                </a:solidFill>
                <a:latin typeface="Consolas"/>
              </a:rPr>
              <a:t>in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2563EB"/>
                </a:solidFill>
                <a:latin typeface="Consolas"/>
              </a:rPr>
              <a:t>range</a:t>
            </a:r>
            <a:r>
              <a:rPr sz="800">
                <a:solidFill>
                  <a:srgbClr val="383A42"/>
                </a:solidFill>
                <a:latin typeface="Consolas"/>
              </a:rPr>
              <a:t>(</a:t>
            </a:r>
            <a:r>
              <a:rPr sz="800">
                <a:solidFill>
                  <a:srgbClr val="383A42"/>
                </a:solidFill>
                <a:latin typeface="Consolas"/>
              </a:rPr>
              <a:t>max_retries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+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986801"/>
                </a:solidFill>
                <a:latin typeface="Consolas"/>
              </a:rPr>
              <a:t>1</a:t>
            </a:r>
            <a:r>
              <a:rPr sz="800">
                <a:solidFill>
                  <a:srgbClr val="383A42"/>
                </a:solidFill>
                <a:latin typeface="Consolas"/>
              </a:rPr>
              <a:t>)</a:t>
            </a:r>
            <a:r>
              <a:rPr sz="8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383A42"/>
                </a:solidFill>
                <a:latin typeface="Consolas"/>
              </a:rPr>
              <a:t>        </a:t>
            </a:r>
            <a:r>
              <a:rPr sz="800">
                <a:solidFill>
                  <a:srgbClr val="383A42"/>
                </a:solidFill>
                <a:latin typeface="Consolas"/>
              </a:rPr>
              <a:t>out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=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llm</a:t>
            </a:r>
            <a:r>
              <a:rPr sz="800">
                <a:solidFill>
                  <a:srgbClr val="383A42"/>
                </a:solidFill>
                <a:latin typeface="Consolas"/>
              </a:rPr>
              <a:t>(</a:t>
            </a:r>
            <a:r>
              <a:rPr sz="800">
                <a:solidFill>
                  <a:srgbClr val="383A42"/>
                </a:solidFill>
                <a:latin typeface="Consolas"/>
              </a:rPr>
              <a:t>prompt</a:t>
            </a:r>
            <a:r>
              <a:rPr sz="8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383A42"/>
                </a:solidFill>
                <a:latin typeface="Consolas"/>
              </a:rPr>
              <a:t>        </a:t>
            </a:r>
            <a:r>
              <a:rPr sz="800">
                <a:solidFill>
                  <a:srgbClr val="A626A4"/>
                </a:solidFill>
                <a:latin typeface="Consolas"/>
              </a:rPr>
              <a:t>try</a:t>
            </a:r>
            <a:r>
              <a:rPr sz="8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383A42"/>
                </a:solidFill>
                <a:latin typeface="Consolas"/>
              </a:rPr>
              <a:t>            </a:t>
            </a:r>
            <a:r>
              <a:rPr sz="800">
                <a:solidFill>
                  <a:srgbClr val="A626A4"/>
                </a:solidFill>
                <a:latin typeface="Consolas"/>
              </a:rPr>
              <a:t>return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schema</a:t>
            </a:r>
            <a:r>
              <a:rPr sz="800">
                <a:solidFill>
                  <a:srgbClr val="383A42"/>
                </a:solidFill>
                <a:latin typeface="Consolas"/>
              </a:rPr>
              <a:t>.</a:t>
            </a:r>
            <a:r>
              <a:rPr sz="800">
                <a:solidFill>
                  <a:srgbClr val="383A42"/>
                </a:solidFill>
                <a:latin typeface="Consolas"/>
              </a:rPr>
              <a:t>model_validate_json</a:t>
            </a:r>
            <a:r>
              <a:rPr sz="800">
                <a:solidFill>
                  <a:srgbClr val="383A42"/>
                </a:solidFill>
                <a:latin typeface="Consolas"/>
              </a:rPr>
              <a:t>(</a:t>
            </a:r>
            <a:r>
              <a:rPr sz="800">
                <a:solidFill>
                  <a:srgbClr val="383A42"/>
                </a:solidFill>
                <a:latin typeface="Consolas"/>
              </a:rPr>
              <a:t>out</a:t>
            </a:r>
            <a:r>
              <a:rPr sz="8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383A42"/>
                </a:solidFill>
                <a:latin typeface="Consolas"/>
              </a:rPr>
              <a:t>        </a:t>
            </a:r>
            <a:r>
              <a:rPr sz="800">
                <a:solidFill>
                  <a:srgbClr val="A626A4"/>
                </a:solidFill>
                <a:latin typeface="Consolas"/>
              </a:rPr>
              <a:t>except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ValidationError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A626A4"/>
                </a:solidFill>
                <a:latin typeface="Consolas"/>
              </a:rPr>
              <a:t>as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e</a:t>
            </a:r>
            <a:r>
              <a:rPr sz="8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800">
                <a:solidFill>
                  <a:srgbClr val="383A42"/>
                </a:solidFill>
                <a:latin typeface="Consolas"/>
              </a:rPr>
              <a:t>            </a:t>
            </a:r>
            <a:r>
              <a:rPr sz="800">
                <a:solidFill>
                  <a:srgbClr val="383A42"/>
                </a:solidFill>
                <a:latin typeface="Consolas"/>
              </a:rPr>
              <a:t>prompt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383A42"/>
                </a:solidFill>
                <a:latin typeface="Consolas"/>
              </a:rPr>
              <a:t>+</a:t>
            </a:r>
            <a:r>
              <a:rPr sz="800">
                <a:solidFill>
                  <a:srgbClr val="383A42"/>
                </a:solidFill>
                <a:latin typeface="Consolas"/>
              </a:rPr>
              <a:t>=</a:t>
            </a:r>
            <a:r>
              <a:rPr sz="800">
                <a:solidFill>
                  <a:srgbClr val="383A42"/>
                </a:solidFill>
                <a:latin typeface="Consolas"/>
              </a:rPr>
              <a:t> </a:t>
            </a:r>
            <a:r>
              <a:rPr sz="800">
                <a:solidFill>
                  <a:srgbClr val="2F7D32"/>
                </a:solidFill>
                <a:latin typeface="Consolas"/>
              </a:rPr>
              <a:t>f'Failed: {e}. Fix and retry.'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526280"/>
            <a:ext cx="44650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10" b="1">
                <a:solidFill>
                  <a:srgbClr val="0F766E"/>
                </a:solidFill>
                <a:latin typeface="Calibri"/>
              </a:rPr>
              <a:t>•  </a:t>
            </a:r>
            <a:r>
              <a:rPr sz="1510" b="0">
                <a:solidFill>
                  <a:srgbClr val="141820"/>
                </a:solidFill>
                <a:latin typeface="Calibri"/>
              </a:rPr>
              <a:t>Chain accuracy = </a:t>
            </a:r>
            <a:r>
              <a:rPr sz="1510" b="1">
                <a:solidFill>
                  <a:srgbClr val="141820"/>
                </a:solidFill>
                <a:latin typeface="Calibri"/>
              </a:rPr>
              <a:t>product</a:t>
            </a:r>
            <a:r>
              <a:rPr sz="1510" b="0">
                <a:solidFill>
                  <a:srgbClr val="141820"/>
                </a:solidFill>
                <a:latin typeface="Calibri"/>
              </a:rPr>
              <a:t> of step accuracies.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510" b="1">
                <a:solidFill>
                  <a:srgbClr val="0F766E"/>
                </a:solidFill>
                <a:latin typeface="Calibri"/>
              </a:rPr>
              <a:t>•  </a:t>
            </a:r>
            <a:r>
              <a:rPr sz="1510" b="1">
                <a:solidFill>
                  <a:srgbClr val="141820"/>
                </a:solidFill>
                <a:latin typeface="Calibri"/>
              </a:rPr>
              <a:t>Per-step pass-rate</a:t>
            </a:r>
            <a:r>
              <a:rPr sz="1510" b="0">
                <a:solidFill>
                  <a:srgbClr val="141820"/>
                </a:solidFill>
                <a:latin typeface="Calibri"/>
              </a:rPr>
              <a:t> finds the weak step — fix only that one.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510" b="1">
                <a:solidFill>
                  <a:srgbClr val="0F766E"/>
                </a:solidFill>
                <a:latin typeface="Calibri"/>
              </a:rPr>
              <a:t>•  </a:t>
            </a:r>
            <a:r>
              <a:rPr sz="1510" b="0">
                <a:solidFill>
                  <a:srgbClr val="141820"/>
                </a:solidFill>
                <a:latin typeface="Calibri"/>
              </a:rPr>
              <a:t>Pydantic validator + retry recovers </a:t>
            </a:r>
            <a:r>
              <a:rPr sz="1510" b="1">
                <a:solidFill>
                  <a:srgbClr val="141820"/>
                </a:solidFill>
                <a:latin typeface="Calibri"/>
              </a:rPr>
              <a:t>70–80%</a:t>
            </a:r>
            <a:r>
              <a:rPr sz="1510" b="0">
                <a:solidFill>
                  <a:srgbClr val="141820"/>
                </a:solidFill>
                <a:latin typeface="Calibri"/>
              </a:rPr>
              <a:t> of bad JSON in one retry.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02 — Primary Techniques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PRIMARY ·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ReAct: Thought / Action /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A REPL where the LLM is the developer.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783080" cy="658368"/>
          </a:xfrm>
          <a:prstGeom prst="roundRect">
            <a:avLst>
              <a:gd name="adj" fmla="val 22000"/>
            </a:avLst>
          </a:prstGeom>
          <a:solidFill>
            <a:srgbClr val="E2EEED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10" b="1" i="0">
                <a:solidFill>
                  <a:srgbClr val="0F766E"/>
                </a:solidFill>
                <a:latin typeface="Calibri"/>
              </a:rPr>
              <a:t>THOUGHT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.0" y="2340864.0"/>
            <a:ext cx="388620.0" cy="0.0"/>
          </a:xfrm>
          <a:prstGeom prst="line">
            <a:avLst/>
          </a:prstGeom>
          <a:ln w="25400">
            <a:solidFill>
              <a:srgbClr val="0F766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1780" y="2011680"/>
            <a:ext cx="1783080" cy="658368"/>
          </a:xfrm>
          <a:prstGeom prst="roundRect">
            <a:avLst>
              <a:gd name="adj" fmla="val 22000"/>
            </a:avLst>
          </a:prstGeom>
          <a:solidFill>
            <a:srgbClr val="E3E9FA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1780" y="2011680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10" b="1" i="0">
                <a:solidFill>
                  <a:srgbClr val="1D4ED8"/>
                </a:solidFill>
                <a:latin typeface="Calibri"/>
              </a:rPr>
              <a:t>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4860.0" y="2340864.0"/>
            <a:ext cx="388620.0" cy="0.0"/>
          </a:xfrm>
          <a:prstGeom prst="line">
            <a:avLst/>
          </a:prstGeom>
          <a:ln w="25400">
            <a:solidFill>
              <a:srgbClr val="0F766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83480" y="2011680"/>
            <a:ext cx="1783080" cy="658368"/>
          </a:xfrm>
          <a:prstGeom prst="roundRect">
            <a:avLst>
              <a:gd name="adj" fmla="val 22000"/>
            </a:avLst>
          </a:prstGeom>
          <a:solidFill>
            <a:srgbClr val="F6EAE1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011680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10" b="1" i="0">
                <a:solidFill>
                  <a:srgbClr val="B45309"/>
                </a:solidFill>
                <a:latin typeface="Calibri"/>
              </a:rPr>
              <a:t>OBSERVATION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5020.0" y="2670048"/>
            <a:ext cx="0.0" cy="457200"/>
          </a:xfrm>
          <a:prstGeom prst="line">
            <a:avLst/>
          </a:prstGeom>
          <a:ln w="2540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31620.0" y="3127248"/>
            <a:ext cx="4343400.0" cy="0"/>
          </a:xfrm>
          <a:prstGeom prst="line">
            <a:avLst/>
          </a:prstGeom>
          <a:ln w="2540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31620.0" y="2670048"/>
            <a:ext cx="0.0" cy="457200"/>
          </a:xfrm>
          <a:prstGeom prst="line">
            <a:avLst/>
          </a:prstGeom>
          <a:ln w="25400">
            <a:solidFill>
              <a:srgbClr val="0F766E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17296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40" b="0" i="1">
                <a:solidFill>
                  <a:srgbClr val="444C59"/>
                </a:solidFill>
                <a:latin typeface="Calibri"/>
              </a:rPr>
              <a:t>loop until  final_answer  ·  or step budget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84448"/>
            <a:ext cx="6126480" cy="132588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3749040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3749040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43584" y="3749040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703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30" b="1" i="0">
                <a:solidFill>
                  <a:srgbClr val="0F766E"/>
                </a:solidFill>
                <a:latin typeface="Calibri"/>
              </a:rPr>
              <a:t>one turn = one LLM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68496"/>
            <a:ext cx="5614416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T1</a:t>
            </a:r>
            <a:r>
              <a:rPr sz="1000">
                <a:solidFill>
                  <a:srgbClr val="383A42"/>
                </a:solidFill>
                <a:latin typeface="Consolas"/>
              </a:rPr>
              <a:t>  </a:t>
            </a:r>
            <a:r>
              <a:rPr sz="1000">
                <a:solidFill>
                  <a:srgbClr val="383A42"/>
                </a:solidFill>
                <a:latin typeface="Consolas"/>
              </a:rPr>
              <a:t>thought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check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the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deploy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log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T1</a:t>
            </a:r>
            <a:r>
              <a:rPr sz="1000">
                <a:solidFill>
                  <a:srgbClr val="383A42"/>
                </a:solidFill>
                <a:latin typeface="Consolas"/>
              </a:rPr>
              <a:t>  </a:t>
            </a:r>
            <a:r>
              <a:rPr sz="1000">
                <a:solidFill>
                  <a:srgbClr val="383A42"/>
                </a:solidFill>
                <a:latin typeface="Consolas"/>
              </a:rPr>
              <a:t>action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tail_logs</a:t>
            </a:r>
            <a:r>
              <a:rPr sz="1000">
                <a:solidFill>
                  <a:srgbClr val="383A42"/>
                </a:solidFill>
                <a:latin typeface="Consolas"/>
              </a:rPr>
              <a:t>(</a:t>
            </a:r>
            <a:r>
              <a:rPr sz="1000">
                <a:solidFill>
                  <a:srgbClr val="383A42"/>
                </a:solidFill>
                <a:latin typeface="Consolas"/>
              </a:rPr>
              <a:t>api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lines</a:t>
            </a:r>
            <a:r>
              <a:rPr sz="1000">
                <a:solidFill>
                  <a:srgbClr val="383A42"/>
                </a:solidFill>
                <a:latin typeface="Consolas"/>
              </a:rPr>
              <a:t>=</a:t>
            </a:r>
            <a:r>
              <a:rPr sz="1000">
                <a:solidFill>
                  <a:srgbClr val="986801"/>
                </a:solidFill>
                <a:latin typeface="Consolas"/>
              </a:rPr>
              <a:t>200</a:t>
            </a:r>
            <a:r>
              <a:rPr sz="10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T1</a:t>
            </a:r>
            <a:r>
              <a:rPr sz="1000">
                <a:solidFill>
                  <a:srgbClr val="383A42"/>
                </a:solidFill>
                <a:latin typeface="Consolas"/>
              </a:rPr>
              <a:t>  </a:t>
            </a:r>
            <a:r>
              <a:rPr sz="1000">
                <a:solidFill>
                  <a:srgbClr val="383A42"/>
                </a:solidFill>
                <a:latin typeface="Consolas"/>
              </a:rPr>
              <a:t>obs</a:t>
            </a:r>
            <a:r>
              <a:rPr sz="1000">
                <a:solidFill>
                  <a:srgbClr val="383A42"/>
                </a:solidFill>
                <a:latin typeface="Consolas"/>
              </a:rPr>
              <a:t>    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[</a:t>
            </a:r>
            <a:r>
              <a:rPr sz="1000">
                <a:solidFill>
                  <a:srgbClr val="383A42"/>
                </a:solidFill>
                <a:latin typeface="Consolas"/>
              </a:rPr>
              <a:t>connection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pool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exhausted</a:t>
            </a:r>
            <a:r>
              <a:rPr sz="1000">
                <a:solidFill>
                  <a:srgbClr val="383A42"/>
                </a:solidFill>
                <a:latin typeface="Consolas"/>
              </a:rPr>
              <a:t>]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T2</a:t>
            </a:r>
            <a:r>
              <a:rPr sz="1000">
                <a:solidFill>
                  <a:srgbClr val="383A42"/>
                </a:solidFill>
                <a:latin typeface="Consolas"/>
              </a:rPr>
              <a:t>  </a:t>
            </a:r>
            <a:r>
              <a:rPr sz="1000">
                <a:solidFill>
                  <a:srgbClr val="383A42"/>
                </a:solidFill>
                <a:latin typeface="Consolas"/>
              </a:rPr>
              <a:t>thought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confirm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A626A4"/>
                </a:solidFill>
                <a:latin typeface="Consolas"/>
              </a:rPr>
              <a:t>with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pool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metrics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.</a:t>
            </a:r>
            <a:r>
              <a:rPr sz="1000">
                <a:solidFill>
                  <a:srgbClr val="383A42"/>
                </a:solidFill>
                <a:latin typeface="Consolas"/>
              </a:rPr>
              <a:t>.</a:t>
            </a:r>
            <a:r>
              <a:rPr sz="1000">
                <a:solidFill>
                  <a:srgbClr val="383A42"/>
                </a:solidFill>
                <a:latin typeface="Consola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874519"/>
            <a:ext cx="4465015" cy="22860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1874519"/>
            <a:ext cx="4465015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201168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PRODUCTION HARDENING — the 3 that 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2395728"/>
            <a:ext cx="4062679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60" b="1">
                <a:solidFill>
                  <a:srgbClr val="0F766E"/>
                </a:solidFill>
                <a:latin typeface="Calibri"/>
              </a:rPr>
              <a:t>•  </a:t>
            </a:r>
            <a:r>
              <a:rPr sz="1460" b="1">
                <a:solidFill>
                  <a:srgbClr val="141820"/>
                </a:solidFill>
                <a:latin typeface="Calibri"/>
              </a:rPr>
              <a:t>Cycle detection</a:t>
            </a:r>
            <a:r>
              <a:rPr sz="1460" b="0">
                <a:solidFill>
                  <a:srgbClr val="141820"/>
                </a:solidFill>
                <a:latin typeface="Calibri"/>
              </a:rPr>
              <a:t> — hash </a:t>
            </a:r>
            <a:r>
              <a:rPr sz="1340" b="0">
                <a:solidFill>
                  <a:srgbClr val="0E7490"/>
                </a:solidFill>
                <a:latin typeface="Consolas"/>
              </a:rPr>
              <a:t>(tool, args)</a:t>
            </a:r>
            <a:r>
              <a:rPr sz="1460" b="0">
                <a:solidFill>
                  <a:srgbClr val="141820"/>
                </a:solidFill>
                <a:latin typeface="Calibri"/>
              </a:rPr>
              <a:t>, break on repeat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60" b="1">
                <a:solidFill>
                  <a:srgbClr val="0F766E"/>
                </a:solidFill>
                <a:latin typeface="Calibri"/>
              </a:rPr>
              <a:t>•  </a:t>
            </a:r>
            <a:r>
              <a:rPr sz="1460" b="1">
                <a:solidFill>
                  <a:srgbClr val="141820"/>
                </a:solidFill>
                <a:latin typeface="Calibri"/>
              </a:rPr>
              <a:t>Error cap</a:t>
            </a:r>
            <a:r>
              <a:rPr sz="1460" b="0">
                <a:solidFill>
                  <a:srgbClr val="141820"/>
                </a:solidFill>
                <a:latin typeface="Calibri"/>
              </a:rPr>
              <a:t> — 3 failures in a row → bail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60" b="1">
                <a:solidFill>
                  <a:srgbClr val="0F766E"/>
                </a:solidFill>
                <a:latin typeface="Calibri"/>
              </a:rPr>
              <a:t>•  </a:t>
            </a:r>
            <a:r>
              <a:rPr sz="1460" b="1">
                <a:solidFill>
                  <a:srgbClr val="141820"/>
                </a:solidFill>
                <a:latin typeface="Calibri"/>
              </a:rPr>
              <a:t>Max-steps cap</a:t>
            </a:r>
            <a:r>
              <a:rPr sz="1460" b="0">
                <a:solidFill>
                  <a:srgbClr val="141820"/>
                </a:solidFill>
                <a:latin typeface="Calibri"/>
              </a:rPr>
              <a:t> — 10–15 turns, then fall back to CoT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242816"/>
            <a:ext cx="4465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5C6573"/>
                </a:solidFill>
                <a:latin typeface="Calibri"/>
              </a:rPr>
              <a:t>ALFWorld +34 pp · WebShop +10 pp · Yao 2022 · arXiv:2210.03629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4553712"/>
            <a:ext cx="2141067" cy="1737360"/>
          </a:xfrm>
          <a:prstGeom prst="roundRect">
            <a:avLst>
              <a:gd name="adj" fmla="val 6000"/>
            </a:avLst>
          </a:prstGeom>
          <a:solidFill>
            <a:srgbClr val="F0FDF6"/>
          </a:solidFill>
          <a:ln w="12700">
            <a:solidFill>
              <a:srgbClr val="95C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4672584"/>
            <a:ext cx="17753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5803D"/>
                </a:solidFill>
                <a:latin typeface="Calibri"/>
              </a:rPr>
              <a:t>USE WHEN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974336"/>
            <a:ext cx="1775307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sz="1290" b="0">
                <a:solidFill>
                  <a:srgbClr val="141820"/>
                </a:solidFill>
                <a:latin typeface="Calibri"/>
              </a:rPr>
              <a:t>tool use is the constraint · multi-step exploration · cycle/error handling 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0547" y="4553712"/>
            <a:ext cx="2141067" cy="17373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DF98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3427" y="4672584"/>
            <a:ext cx="17753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91C1C"/>
                </a:solidFill>
                <a:latin typeface="Calibri"/>
              </a:rPr>
              <a:t>DON'T USE WHEN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3427" y="4974336"/>
            <a:ext cx="1775307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sz="1290" b="0">
                <a:solidFill>
                  <a:srgbClr val="141820"/>
                </a:solidFill>
                <a:latin typeface="Calibri"/>
              </a:rPr>
              <a:t>read-only computation (use PoT) · latency &lt;500 ms · reasoning model with native tools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02 — Primary Techniques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PRIMARY · GENERATED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Generate Knowledge: self-RAG (use sparingly)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Two calls: generate the facts, then apply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214884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272887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0823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F766E"/>
                </a:solidFill>
                <a:latin typeface="Calibri"/>
              </a:rPr>
              <a:t>STEP 1 — abstract the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77439"/>
            <a:ext cx="4815687" cy="146304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848" y="2542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71016" y="2542031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72184" y="2542031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761487"/>
            <a:ext cx="4303623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00">
                <a:solidFill>
                  <a:srgbClr val="6B7280"/>
                </a:solidFill>
                <a:latin typeface="Consolas"/>
              </a:rPr>
              <a:t># AWS SDK v2 → v3 deprecations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AWS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S3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  <a:r>
              <a:rPr sz="1100">
                <a:solidFill>
                  <a:srgbClr val="383A42"/>
                </a:solidFill>
                <a:latin typeface="Consolas"/>
              </a:rPr>
              <a:t>          </a:t>
            </a:r>
            <a:r>
              <a:rPr sz="1100">
                <a:solidFill>
                  <a:srgbClr val="383A42"/>
                </a:solidFill>
                <a:latin typeface="Consolas"/>
              </a:rPr>
              <a:t>-</a:t>
            </a:r>
            <a:r>
              <a:rPr sz="1100">
                <a:solidFill>
                  <a:srgbClr val="383A42"/>
                </a:solidFill>
                <a:latin typeface="Consolas"/>
              </a:rPr>
              <a:t>&gt;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new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S3Client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s3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upload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params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-</a:t>
            </a:r>
            <a:r>
              <a:rPr sz="1100">
                <a:solidFill>
                  <a:srgbClr val="383A42"/>
                </a:solidFill>
                <a:latin typeface="Consolas"/>
              </a:rPr>
              <a:t>&gt;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PutObjectCommand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promise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  <a:r>
              <a:rPr sz="1100">
                <a:solidFill>
                  <a:srgbClr val="383A42"/>
                </a:solidFill>
                <a:latin typeface="Consolas"/>
              </a:rPr>
              <a:t>        </a:t>
            </a:r>
            <a:r>
              <a:rPr sz="1100">
                <a:solidFill>
                  <a:srgbClr val="383A42"/>
                </a:solidFill>
                <a:latin typeface="Consolas"/>
              </a:rPr>
              <a:t>-</a:t>
            </a:r>
            <a:r>
              <a:rPr sz="1100">
                <a:solidFill>
                  <a:srgbClr val="383A42"/>
                </a:solidFill>
                <a:latin typeface="Consolas"/>
              </a:rPr>
              <a:t>&gt;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A626A4"/>
                </a:solidFill>
                <a:latin typeface="Consolas"/>
              </a:rPr>
              <a:t>await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send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cmd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874519"/>
            <a:ext cx="5272887" cy="214884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1874519"/>
            <a:ext cx="5272887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2020823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STEP 2 — apply to the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7327" y="2377439"/>
            <a:ext cx="4815687" cy="146304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207" y="2496311"/>
            <a:ext cx="4495647" cy="12801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050">
                <a:solidFill>
                  <a:srgbClr val="B91C1C"/>
                </a:solidFill>
                <a:latin typeface="Consolas"/>
              </a:rPr>
              <a:t>- const s3 = new AWS.S3();</a:t>
            </a:r>
          </a:p>
          <a:p>
            <a:pPr>
              <a:lnSpc>
                <a:spcPct val="130000"/>
              </a:lnSpc>
            </a:pPr>
            <a:r>
              <a:rPr sz="1050">
                <a:solidFill>
                  <a:srgbClr val="15803D"/>
                </a:solidFill>
                <a:latin typeface="Consolas"/>
              </a:rPr>
              <a:t>+ const s3 = new S3Client({});</a:t>
            </a:r>
          </a:p>
          <a:p>
            <a:pPr>
              <a:lnSpc>
                <a:spcPct val="130000"/>
              </a:lnSpc>
            </a:pPr>
            <a:r>
              <a:rPr sz="1050">
                <a:solidFill>
                  <a:srgbClr val="B91C1C"/>
                </a:solidFill>
                <a:latin typeface="Consolas"/>
              </a:rPr>
              <a:t>- await s3.upload(p).promise();</a:t>
            </a:r>
          </a:p>
          <a:p>
            <a:pPr>
              <a:lnSpc>
                <a:spcPct val="130000"/>
              </a:lnSpc>
            </a:pPr>
            <a:r>
              <a:rPr sz="1050">
                <a:solidFill>
                  <a:srgbClr val="15803D"/>
                </a:solidFill>
                <a:latin typeface="Consolas"/>
              </a:rPr>
              <a:t>+ await s3.send(new PutObjectCommand(p));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6240"/>
            <a:ext cx="10911535" cy="54864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54864" cy="5486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⚠ </a:t>
            </a:r>
            <a:r>
              <a:rPr sz="1460" b="1">
                <a:solidFill>
                  <a:srgbClr val="141820"/>
                </a:solidFill>
                <a:latin typeface="Calibri"/>
              </a:rPr>
              <a:t>Amplifies hallucinations</a:t>
            </a:r>
            <a:r>
              <a:rPr sz="1460" b="0">
                <a:solidFill>
                  <a:srgbClr val="141820"/>
                </a:solidFill>
                <a:latin typeface="Calibri"/>
              </a:rPr>
              <a:t> when the model's parametric knowledge is wrong. </a:t>
            </a:r>
            <a:r>
              <a:rPr sz="1460" b="1">
                <a:solidFill>
                  <a:srgbClr val="141820"/>
                </a:solidFill>
                <a:latin typeface="Calibri"/>
              </a:rPr>
              <a:t>Never</a:t>
            </a:r>
            <a:r>
              <a:rPr sz="1460" b="0">
                <a:solidFill>
                  <a:srgbClr val="141820"/>
                </a:solidFill>
                <a:latin typeface="Calibri"/>
              </a:rPr>
              <a:t> use for ground-truth queries — pretty hallucinations are still hallucinations.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937760"/>
            <a:ext cx="3362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Pick this when you...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3562" y="4937760"/>
            <a:ext cx="3362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0740" y="4937760"/>
            <a:ext cx="336285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94960"/>
            <a:ext cx="109115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3949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1820"/>
                </a:solidFill>
                <a:latin typeface="Calibri"/>
              </a:rPr>
              <a:t>Step-Back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3562" y="53949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abstract the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0740" y="53949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STEM, multi-hop QA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699760"/>
            <a:ext cx="10911535" cy="3048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6997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1820"/>
                </a:solidFill>
                <a:latin typeface="Calibri"/>
              </a:rPr>
              <a:t>Generated 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3562" y="56997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abstract the facts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0740" y="56997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bridging via training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004560"/>
            <a:ext cx="109115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60045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1820"/>
                </a:solidFill>
                <a:latin typeface="Calibri"/>
              </a:rPr>
              <a:t>RAG (Session 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3562" y="60045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retrieve from a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0740" y="6004560"/>
            <a:ext cx="336285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ground-truth required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394960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080" y="5699760.0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080" y="6004560.0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40080" y="4937760"/>
            <a:ext cx="10911535" cy="137160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02 — Primary Techniques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F766E"/>
                </a:solidFill>
                <a:latin typeface="Calibri"/>
              </a:rPr>
              <a:t>PRIMARY · RUN THEM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Live demos — code along with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Three live, four to take home. All self-contained.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70A8"/>
                </a:solidFill>
                <a:latin typeface="Calibri"/>
              </a:rPr>
              <a:t>▶ LIVE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54298" cy="1371600"/>
          </a:xfrm>
          <a:prstGeom prst="roundRect">
            <a:avLst>
              <a:gd name="adj" fmla="val 4500"/>
            </a:avLst>
          </a:prstGeom>
          <a:solidFill>
            <a:srgbClr val="EBF3F8"/>
          </a:solidFill>
          <a:ln w="12700">
            <a:solidFill>
              <a:srgbClr val="0B7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454298" cy="54864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21408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60" b="1" i="0">
                <a:solidFill>
                  <a:srgbClr val="0B70A8"/>
                </a:solidFill>
                <a:latin typeface="Calibri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23744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Tree of Thoughts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71216"/>
            <a:ext cx="30885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1">
                <a:solidFill>
                  <a:srgbClr val="444C59"/>
                </a:solidFill>
                <a:latin typeface="Calibri"/>
              </a:rPr>
              <a:t>CoT 4% → ToT 74%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20240"/>
            <a:ext cx="3454298" cy="1371600"/>
          </a:xfrm>
          <a:prstGeom prst="roundRect">
            <a:avLst>
              <a:gd name="adj" fmla="val 4500"/>
            </a:avLst>
          </a:prstGeom>
          <a:solidFill>
            <a:srgbClr val="EBF3F8"/>
          </a:solidFill>
          <a:ln w="12700">
            <a:solidFill>
              <a:srgbClr val="0B7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920240"/>
            <a:ext cx="3454298" cy="54864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9866" y="2121408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60" b="1" i="0">
                <a:solidFill>
                  <a:srgbClr val="0B70A8"/>
                </a:solidFill>
                <a:latin typeface="Calibri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523744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Bug-triage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2871216"/>
            <a:ext cx="30885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1">
                <a:solidFill>
                  <a:srgbClr val="444C59"/>
                </a:solidFill>
                <a:latin typeface="Calibri"/>
              </a:rPr>
              <a:t>Pydantic + retry +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920240"/>
            <a:ext cx="3454298" cy="1371600"/>
          </a:xfrm>
          <a:prstGeom prst="roundRect">
            <a:avLst>
              <a:gd name="adj" fmla="val 4500"/>
            </a:avLst>
          </a:prstGeom>
          <a:solidFill>
            <a:srgbClr val="EBF3F8"/>
          </a:solidFill>
          <a:ln w="12700">
            <a:solidFill>
              <a:srgbClr val="0B7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920240"/>
            <a:ext cx="3454298" cy="54864"/>
          </a:xfrm>
          <a:prstGeom prst="rect">
            <a:avLst/>
          </a:prstGeom>
          <a:solidFill>
            <a:srgbClr val="0B7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2121408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60" b="1" i="0">
                <a:solidFill>
                  <a:srgbClr val="0B70A8"/>
                </a:solidFill>
                <a:latin typeface="Calibri"/>
              </a:rPr>
              <a:t>D3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523744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MLflow 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2871216"/>
            <a:ext cx="30885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1">
                <a:solidFill>
                  <a:srgbClr val="444C59"/>
                </a:solidFill>
                <a:latin typeface="Calibri"/>
              </a:rPr>
              <a:t>compare 4 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107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C6573"/>
                </a:solidFill>
                <a:latin typeface="Calibri"/>
              </a:rPr>
              <a:t>○ OPTIONAL — take-home self-study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03320"/>
            <a:ext cx="2556433" cy="9144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849624"/>
            <a:ext cx="22272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5C6573"/>
                </a:solidFill>
                <a:latin typeface="Calibri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215384"/>
            <a:ext cx="22272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ReAct K8s bot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5113" y="3703320"/>
            <a:ext cx="2556433" cy="9144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9705" y="3849624"/>
            <a:ext cx="22272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5C6573"/>
                </a:solidFill>
                <a:latin typeface="Calibri"/>
              </a:rPr>
              <a:t>D5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9705" y="4215384"/>
            <a:ext cx="22272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PoT vs CoT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147" y="3703320"/>
            <a:ext cx="2556433" cy="9144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4739" y="3849624"/>
            <a:ext cx="22272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5C6573"/>
                </a:solidFill>
                <a:latin typeface="Calibri"/>
              </a:rPr>
              <a:t>D6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4739" y="4215384"/>
            <a:ext cx="22272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Self-Refine + ruff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5181" y="3703320"/>
            <a:ext cx="2556433" cy="9144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9773" y="3849624"/>
            <a:ext cx="22272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5C6573"/>
                </a:solidFill>
                <a:latin typeface="Calibri"/>
              </a:rPr>
              <a:t>D7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9773" y="4215384"/>
            <a:ext cx="222724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41820"/>
                </a:solidFill>
                <a:latin typeface="Calibri"/>
              </a:rPr>
              <a:t>SoT parallel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074920"/>
            <a:ext cx="10911535" cy="713232"/>
          </a:xfrm>
          <a:prstGeom prst="roundRect">
            <a:avLst>
              <a:gd name="adj" fmla="val 12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074920"/>
            <a:ext cx="64008" cy="7132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074920"/>
            <a:ext cx="104543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F766E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Set 3 env vars and run: </a:t>
            </a:r>
            <a:r>
              <a:rPr sz="1400" b="0">
                <a:solidFill>
                  <a:srgbClr val="0E7490"/>
                </a:solidFill>
                <a:latin typeface="Consolas"/>
              </a:rPr>
              <a:t>MLFLOW_TRACKING_URI</a:t>
            </a:r>
            <a:r>
              <a:rPr sz="1510" b="0">
                <a:solidFill>
                  <a:srgbClr val="141820"/>
                </a:solidFill>
                <a:latin typeface="Calibri"/>
              </a:rPr>
              <a:t> · </a:t>
            </a:r>
            <a:r>
              <a:rPr sz="1400" b="0">
                <a:solidFill>
                  <a:srgbClr val="0E7490"/>
                </a:solidFill>
                <a:latin typeface="Consolas"/>
              </a:rPr>
              <a:t>LLM_API_KEY</a:t>
            </a:r>
            <a:r>
              <a:rPr sz="1510" b="0">
                <a:solidFill>
                  <a:srgbClr val="141820"/>
                </a:solidFill>
                <a:latin typeface="Calibri"/>
              </a:rPr>
              <a:t> · </a:t>
            </a:r>
            <a:r>
              <a:rPr sz="1400" b="0">
                <a:solidFill>
                  <a:srgbClr val="0E7490"/>
                </a:solidFill>
                <a:latin typeface="Consolas"/>
              </a:rPr>
              <a:t>LLM_MODEL</a:t>
            </a:r>
            <a:r>
              <a:rPr sz="1510" b="0">
                <a:solidFill>
                  <a:srgbClr val="141820"/>
                </a:solidFill>
                <a:latin typeface="Calibri"/>
              </a:rPr>
              <a:t>. No key? </a:t>
            </a:r>
            <a:r>
              <a:rPr sz="1510" b="1">
                <a:solidFill>
                  <a:srgbClr val="141820"/>
                </a:solidFill>
                <a:latin typeface="Calibri"/>
              </a:rPr>
              <a:t>mock mode</a:t>
            </a:r>
            <a:r>
              <a:rPr sz="1510" b="0">
                <a:solidFill>
                  <a:srgbClr val="141820"/>
                </a:solidFill>
                <a:latin typeface="Calibri"/>
              </a:rPr>
              <a:t> still demonstrates the structure. Every prompt + response is captured in MLflow.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02 — Primary Techniques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47857"/>
                </a:solidFill>
                <a:latin typeface="Calibri"/>
              </a:rPr>
              <a:t>SECONDARY · PLAN-AND-SOLVE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Plan-and-Solve: the free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Two free sentences. Ship them everywhere this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72887" cy="201168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5C6573"/>
                </a:solidFill>
                <a:latin typeface="Calibri"/>
              </a:rPr>
              <a:t>BEFORE — zero-shot CoT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156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60" b="0" i="1">
                <a:solidFill>
                  <a:srgbClr val="444C59"/>
                </a:solidFill>
                <a:latin typeface="Calibri"/>
              </a:rPr>
              <a:t>“Let's think step by step.”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920240"/>
            <a:ext cx="5272887" cy="2011680"/>
          </a:xfrm>
          <a:prstGeom prst="roundRect">
            <a:avLst>
              <a:gd name="adj" fmla="val 4500"/>
            </a:avLst>
          </a:prstGeom>
          <a:solidFill>
            <a:srgbClr val="EDF5F3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920240"/>
            <a:ext cx="5272887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08483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47857"/>
                </a:solidFill>
                <a:latin typeface="Calibri"/>
              </a:rPr>
              <a:t>AFTER — Plan-and-Solve (PS+)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8156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50" b="0" i="1">
                <a:solidFill>
                  <a:srgbClr val="141820"/>
                </a:solidFill>
                <a:latin typeface="Calibri"/>
              </a:rPr>
              <a:t>“First understand the problem and devise a plan. Then execute it step by step, paying attention to variable values.”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2743200" cy="81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15803D"/>
                </a:solidFill>
                <a:latin typeface="Calibri"/>
              </a:rPr>
              <a:t>+9.1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66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80" b="0" i="0">
                <a:solidFill>
                  <a:srgbClr val="444C59"/>
                </a:solidFill>
                <a:latin typeface="Calibri"/>
              </a:rPr>
              <a:t>arithmetic avg · Wang 2023 · 2305.04091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4206240"/>
            <a:ext cx="7802575" cy="137160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8AB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43342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USE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4663440"/>
            <a:ext cx="7391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10" b="1">
                <a:solidFill>
                  <a:srgbClr val="15803D"/>
                </a:solidFill>
                <a:latin typeface="Calibri"/>
              </a:rPr>
              <a:t>•  </a:t>
            </a:r>
            <a:r>
              <a:rPr sz="1510" b="0">
                <a:solidFill>
                  <a:srgbClr val="141820"/>
                </a:solidFill>
                <a:latin typeface="Calibri"/>
              </a:rPr>
              <a:t>any zero-shot CoT prompt — pure drop-in, no examples, no extra calls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510" b="1">
                <a:solidFill>
                  <a:srgbClr val="15803D"/>
                </a:solidFill>
                <a:latin typeface="Calibri"/>
              </a:rPr>
              <a:t>•  </a:t>
            </a:r>
            <a:r>
              <a:rPr sz="1510" b="0">
                <a:solidFill>
                  <a:srgbClr val="141820"/>
                </a:solidFill>
                <a:latin typeface="Calibri"/>
              </a:rPr>
              <a:t>PS+ variant names variable values → another </a:t>
            </a:r>
            <a:r>
              <a:rPr sz="1510" b="1">
                <a:solidFill>
                  <a:srgbClr val="141820"/>
                </a:solidFill>
                <a:latin typeface="Calibri"/>
              </a:rPr>
              <a:t>+1–2 pp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03 — Secondary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47857"/>
                </a:solidFill>
                <a:latin typeface="Calibri"/>
              </a:rPr>
              <a:t>SECONDARY · ONE PATTERN, THREE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Abstract-then-apply: pick by what's abstracted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Three techniques, identical 2-call shape.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447" y="18288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D9EAE5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5447" y="1828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047857"/>
                </a:solidFill>
                <a:latin typeface="Calibri"/>
              </a:rPr>
              <a:t>CALL 1 — abstract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38647.5" y="2103120.0"/>
            <a:ext cx="914400.0" cy="0.0"/>
          </a:xfrm>
          <a:prstGeom prst="line">
            <a:avLst/>
          </a:prstGeom>
          <a:ln w="25400">
            <a:solidFill>
              <a:srgbClr val="949DA8"/>
            </a:solidFill>
            <a:tailEnd type="triangle" w="med" h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53047" y="18288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DBEBE1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1828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15803D"/>
                </a:solidFill>
                <a:latin typeface="Calibri"/>
              </a:rPr>
              <a:t>CALL 2 — apply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10911535" cy="4572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834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8346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Abstracts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8346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2834640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Don't when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10911535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291840"/>
            <a:ext cx="192024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1820"/>
                </a:solidFill>
                <a:latin typeface="Calibri"/>
              </a:rPr>
              <a:t>Step-Back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291840"/>
            <a:ext cx="173736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the </a:t>
            </a:r>
            <a:r>
              <a:rPr sz="1400" b="1">
                <a:solidFill>
                  <a:srgbClr val="141820"/>
                </a:solidFill>
                <a:latin typeface="Calibri"/>
              </a:rPr>
              <a:t>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291840"/>
            <a:ext cx="338328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STEM, multi-hop QA · K8s debug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3291840"/>
            <a:ext cx="2770632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abstraction picks wrong 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01440"/>
            <a:ext cx="10911535" cy="6096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901440"/>
            <a:ext cx="192024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1820"/>
                </a:solidFill>
                <a:latin typeface="Calibri"/>
              </a:rPr>
              <a:t>Generated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0944" y="3901440"/>
            <a:ext cx="173736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the </a:t>
            </a:r>
            <a:r>
              <a:rPr sz="1400" b="1">
                <a:solidFill>
                  <a:srgbClr val="141820"/>
                </a:solidFill>
                <a:latin typeface="Calibri"/>
              </a:rPr>
              <a:t>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901440"/>
            <a:ext cx="338328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API deprecation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3901440"/>
            <a:ext cx="2770632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parametric knowledge is wrong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11040"/>
            <a:ext cx="10911535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511040"/>
            <a:ext cx="192024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1820"/>
                </a:solidFill>
                <a:latin typeface="Calibri"/>
              </a:rPr>
              <a:t>Least-to-Most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4511040"/>
            <a:ext cx="173736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the </a:t>
            </a:r>
            <a:r>
              <a:rPr sz="1400" b="1">
                <a:solidFill>
                  <a:srgbClr val="141820"/>
                </a:solidFill>
                <a:latin typeface="Calibri"/>
              </a:rPr>
              <a:t>subproblems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511040"/>
            <a:ext cx="338328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multi-table SQL · SCAN 16%→99.7%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4511040"/>
            <a:ext cx="2770632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141820"/>
                </a:solidFill>
                <a:latin typeface="Calibri"/>
              </a:rPr>
              <a:t>bad decomposition cascades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3291840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0080" y="3901440.0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0080" y="4511040.0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" y="2834640"/>
            <a:ext cx="10911535" cy="228600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349240"/>
            <a:ext cx="10911535" cy="658368"/>
          </a:xfrm>
          <a:prstGeom prst="roundRect">
            <a:avLst>
              <a:gd name="adj" fmla="val 12000"/>
            </a:avLst>
          </a:prstGeom>
          <a:solidFill>
            <a:srgbClr val="E5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349240"/>
            <a:ext cx="64008" cy="65836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349240"/>
            <a:ext cx="1045433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47857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Diagnose by failure mode: </a:t>
            </a:r>
            <a:r>
              <a:rPr sz="1510" b="1">
                <a:solidFill>
                  <a:srgbClr val="141820"/>
                </a:solidFill>
                <a:latin typeface="Calibri"/>
              </a:rPr>
              <a:t>wrong category? → Step-Back. Missing background? → GenKnowledge. Won't fit one call? → Least-to-Most.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03 — Secondary Techniques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47857"/>
                </a:solidFill>
                <a:latin typeface="Calibri"/>
              </a:rPr>
              <a:t>SECONDARY · GROUND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PoT + Self-Refine: execute, then iterate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Don't let the LLM do mental arithmetic. Don't let the critic float.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233172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272887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0823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47857"/>
                </a:solidFill>
                <a:latin typeface="Calibri"/>
              </a:rPr>
              <a:t>PROGRAM-OF-THOUGHT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77439"/>
            <a:ext cx="4815687" cy="1188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848" y="2542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71016" y="2542031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72184" y="2542031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761487"/>
            <a:ext cx="4303623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code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=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llm</a:t>
            </a:r>
            <a:r>
              <a:rPr sz="1000">
                <a:solidFill>
                  <a:srgbClr val="383A42"/>
                </a:solidFill>
                <a:latin typeface="Consolas"/>
              </a:rPr>
              <a:t>(</a:t>
            </a:r>
            <a:r>
              <a:rPr sz="1000">
                <a:solidFill>
                  <a:srgbClr val="2F7D32"/>
                </a:solidFill>
                <a:latin typeface="Consolas"/>
              </a:rPr>
              <a:t>f'Write Python. print(result).\n{q}'</a:t>
            </a:r>
            <a:r>
              <a:rPr sz="10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A626A4"/>
                </a:solidFill>
                <a:latin typeface="Consolas"/>
              </a:rPr>
              <a:t>return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383A42"/>
                </a:solidFill>
                <a:latin typeface="Consolas"/>
              </a:rPr>
              <a:t>safe_exec</a:t>
            </a:r>
            <a:r>
              <a:rPr sz="1000">
                <a:solidFill>
                  <a:srgbClr val="383A42"/>
                </a:solidFill>
                <a:latin typeface="Consolas"/>
              </a:rPr>
              <a:t>(</a:t>
            </a:r>
            <a:r>
              <a:rPr sz="1000">
                <a:solidFill>
                  <a:srgbClr val="383A42"/>
                </a:solidFill>
                <a:latin typeface="Consolas"/>
              </a:rPr>
              <a:t>extract_code</a:t>
            </a:r>
            <a:r>
              <a:rPr sz="1000">
                <a:solidFill>
                  <a:srgbClr val="383A42"/>
                </a:solidFill>
                <a:latin typeface="Consolas"/>
              </a:rPr>
              <a:t>(</a:t>
            </a:r>
            <a:r>
              <a:rPr sz="1000">
                <a:solidFill>
                  <a:srgbClr val="383A42"/>
                </a:solidFill>
                <a:latin typeface="Consolas"/>
              </a:rPr>
              <a:t>code</a:t>
            </a:r>
            <a:r>
              <a:rPr sz="1000">
                <a:solidFill>
                  <a:srgbClr val="383A42"/>
                </a:solidFill>
                <a:latin typeface="Consolas"/>
              </a:rPr>
              <a:t>)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                 </a:t>
            </a:r>
            <a:r>
              <a:rPr sz="1000">
                <a:solidFill>
                  <a:srgbClr val="383A42"/>
                </a:solidFill>
                <a:latin typeface="Consolas"/>
              </a:rPr>
              <a:t>timeout</a:t>
            </a:r>
            <a:r>
              <a:rPr sz="1000">
                <a:solidFill>
                  <a:srgbClr val="383A42"/>
                </a:solidFill>
                <a:latin typeface="Consolas"/>
              </a:rPr>
              <a:t>=</a:t>
            </a:r>
            <a:r>
              <a:rPr sz="1000">
                <a:solidFill>
                  <a:srgbClr val="986801"/>
                </a:solidFill>
                <a:latin typeface="Consolas"/>
              </a:rPr>
              <a:t>10</a:t>
            </a:r>
            <a:r>
              <a:rPr sz="1000">
                <a:solidFill>
                  <a:srgbClr val="383A42"/>
                </a:solidFill>
                <a:latin typeface="Consolas"/>
              </a:rPr>
              <a:t>)</a:t>
            </a:r>
            <a:r>
              <a:rPr sz="1000">
                <a:solidFill>
                  <a:srgbClr val="383A42"/>
                </a:solidFill>
                <a:latin typeface="Consolas"/>
              </a:rPr>
              <a:t>  </a:t>
            </a:r>
            <a:r>
              <a:rPr sz="1000">
                <a:solidFill>
                  <a:srgbClr val="6B7280"/>
                </a:solidFill>
                <a:latin typeface="Consolas"/>
              </a:rPr>
              <a:t># sandboxed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599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5803D"/>
                </a:solidFill>
                <a:latin typeface="Calibri"/>
              </a:rPr>
              <a:t>GSM8K +8.5 pp · FinQA +24.1 pp · Chen 2022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874519"/>
            <a:ext cx="5272887" cy="233172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874519"/>
            <a:ext cx="5272887" cy="548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020823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E185D"/>
                </a:solidFill>
                <a:latin typeface="Calibri"/>
              </a:rPr>
              <a:t>SELF-REFINE — gen · critique · refine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44487.5" y="3749038"/>
            <a:ext cx="4449927.5" cy="0"/>
          </a:xfrm>
          <a:prstGeom prst="line">
            <a:avLst/>
          </a:prstGeom>
          <a:ln w="1270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44487.5" y="2651758"/>
            <a:ext cx="0.0" cy="1097280"/>
          </a:xfrm>
          <a:prstGeom prst="line">
            <a:avLst/>
          </a:prstGeom>
          <a:ln w="1270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644487.5" y="3068724.4"/>
            <a:ext cx="1483309.166666666" cy="680313.6000000001"/>
          </a:xfrm>
          <a:prstGeom prst="line">
            <a:avLst/>
          </a:prstGeom>
          <a:ln w="28575">
            <a:solidFill>
              <a:srgbClr val="BE18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127796.666666666" y="2816350.0"/>
            <a:ext cx="1483309.166666666" cy="252374.3999999999"/>
          </a:xfrm>
          <a:prstGeom prst="line">
            <a:avLst/>
          </a:prstGeom>
          <a:ln w="28575">
            <a:solidFill>
              <a:srgbClr val="BE18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11105.833333332" y="2739540.4"/>
            <a:ext cx="1483309.166666668" cy="76809.6000000001"/>
          </a:xfrm>
          <a:prstGeom prst="line">
            <a:avLst/>
          </a:prstGeom>
          <a:ln w="28575">
            <a:solidFill>
              <a:srgbClr val="BE18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598767" y="3703318"/>
            <a:ext cx="91440" cy="914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378561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0" b="0" i="0">
                <a:solidFill>
                  <a:srgbClr val="5C6573"/>
                </a:solidFill>
                <a:latin typeface="Calibri"/>
              </a:rPr>
              <a:t>r0</a:t>
            </a:r>
          </a:p>
        </p:txBody>
      </p:sp>
      <p:sp>
        <p:nvSpPr>
          <p:cNvPr id="26" name="Oval 25"/>
          <p:cNvSpPr/>
          <p:nvPr/>
        </p:nvSpPr>
        <p:spPr>
          <a:xfrm>
            <a:off x="8082076" y="3023004"/>
            <a:ext cx="91440" cy="914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9196" y="378561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0" b="0" i="0">
                <a:solidFill>
                  <a:srgbClr val="5C6573"/>
                </a:solidFill>
                <a:latin typeface="Calibri"/>
              </a:rPr>
              <a:t>r1</a:t>
            </a:r>
          </a:p>
        </p:txBody>
      </p:sp>
      <p:sp>
        <p:nvSpPr>
          <p:cNvPr id="28" name="Oval 27"/>
          <p:cNvSpPr/>
          <p:nvPr/>
        </p:nvSpPr>
        <p:spPr>
          <a:xfrm>
            <a:off x="9565385" y="2770630"/>
            <a:ext cx="91440" cy="914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2505" y="378561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0" b="0" i="0">
                <a:solidFill>
                  <a:srgbClr val="5C6573"/>
                </a:solidFill>
                <a:latin typeface="Calibri"/>
              </a:rPr>
              <a:t>r2</a:t>
            </a:r>
          </a:p>
        </p:txBody>
      </p:sp>
      <p:sp>
        <p:nvSpPr>
          <p:cNvPr id="30" name="Oval 29"/>
          <p:cNvSpPr/>
          <p:nvPr/>
        </p:nvSpPr>
        <p:spPr>
          <a:xfrm>
            <a:off x="11048695" y="2693820"/>
            <a:ext cx="91440" cy="914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65815" y="378561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0" b="0" i="0">
                <a:solidFill>
                  <a:srgbClr val="5C6573"/>
                </a:solidFill>
                <a:latin typeface="Calibri"/>
              </a:rPr>
              <a:t>r3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487" y="2331719"/>
            <a:ext cx="4449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round 1 = big lift · cap at 2 rounds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70832"/>
            <a:ext cx="10911535" cy="1554480"/>
          </a:xfrm>
          <a:prstGeom prst="roundRect">
            <a:avLst>
              <a:gd name="adj" fmla="val 4500"/>
            </a:avLst>
          </a:prstGeom>
          <a:solidFill>
            <a:srgbClr val="FAEFE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70832"/>
            <a:ext cx="54864" cy="1554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498848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91C1C"/>
                </a:solidFill>
                <a:latin typeface="Calibri"/>
              </a:rPr>
              <a:t>⚠ THE PRINCIPLE: GROUND THE MODEL WITH SOMETHING DETERMINISTIC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846320"/>
            <a:ext cx="104086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PoT grounds with a Python </a:t>
            </a:r>
            <a:r>
              <a:rPr sz="1460" b="1">
                <a:solidFill>
                  <a:srgbClr val="141820"/>
                </a:solidFill>
                <a:latin typeface="Calibri"/>
              </a:rPr>
              <a:t>interpreter</a:t>
            </a:r>
            <a:r>
              <a:rPr sz="1460" b="0">
                <a:solidFill>
                  <a:srgbClr val="141820"/>
                </a:solidFill>
                <a:latin typeface="Calibri"/>
              </a:rPr>
              <a:t>. Self-Refine must ground with a </a:t>
            </a:r>
            <a:r>
              <a:rPr sz="1460" b="1">
                <a:solidFill>
                  <a:srgbClr val="141820"/>
                </a:solidFill>
                <a:latin typeface="Calibri"/>
              </a:rPr>
              <a:t>linter / test runner / rubric</a:t>
            </a:r>
            <a:r>
              <a:rPr sz="1460" b="0">
                <a:solidFill>
                  <a:srgbClr val="141820"/>
                </a:solidFill>
                <a:latin typeface="Calibri"/>
              </a:rPr>
              <a:t> — anything the model didn't already see.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Self-Refine with </a:t>
            </a:r>
            <a:r>
              <a:rPr sz="1460" b="1">
                <a:solidFill>
                  <a:srgbClr val="141820"/>
                </a:solidFill>
                <a:latin typeface="Calibri"/>
              </a:rPr>
              <a:t>no external verifier degrades performance</a:t>
            </a:r>
            <a:r>
              <a:rPr sz="1460" b="0">
                <a:solidFill>
                  <a:srgbClr val="141820"/>
                </a:solidFill>
                <a:latin typeface="Calibri"/>
              </a:rPr>
              <a:t> (slide 25). Skip both if a reasoning model does interpreter tool-calls natively.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03 — Secondary Techniques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47857"/>
                </a:solidFill>
                <a:latin typeface="Calibri"/>
              </a:rPr>
              <a:t>SECONDARY · CHEAP STRUCTURE HACKS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Three structure tricks worth knowing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Each is one wiki page — here in one chart.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54298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454298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39696"/>
            <a:ext cx="30519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1820"/>
                </a:solidFill>
                <a:latin typeface="Calibri"/>
              </a:rPr>
              <a:t>Skeleton-of-Thought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305196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40" b="1" i="0">
                <a:solidFill>
                  <a:srgbClr val="15803D"/>
                </a:solidFill>
                <a:latin typeface="Calibri"/>
              </a:rPr>
              <a:t>2.39× wall-clock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91840"/>
            <a:ext cx="305196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60" b="0" i="0">
                <a:solidFill>
                  <a:srgbClr val="444C59"/>
                </a:solidFill>
                <a:latin typeface="Calibri"/>
              </a:rPr>
              <a:t>Skeleton first, then fan out sections in parallel — same tokens.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.0" y="4251960"/>
            <a:ext cx="3051962.3333333335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4334256"/>
            <a:ext cx="30519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15803D"/>
                </a:solidFill>
                <a:latin typeface="Calibri"/>
              </a:rPr>
              <a:t>USE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572000"/>
            <a:ext cx="30519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40" b="0" i="0">
                <a:solidFill>
                  <a:srgbClr val="141820"/>
                </a:solidFill>
                <a:latin typeface="Calibri"/>
              </a:rPr>
              <a:t>list-shaped outputs: architecture review, multi-finding code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920240"/>
            <a:ext cx="3454298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920240"/>
            <a:ext cx="3454298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9866" y="2139696"/>
            <a:ext cx="30519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1820"/>
                </a:solidFill>
                <a:latin typeface="Calibri"/>
              </a:rPr>
              <a:t>Auto-CoT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866" y="2788920"/>
            <a:ext cx="305196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40" b="1" i="0">
                <a:solidFill>
                  <a:srgbClr val="B45309"/>
                </a:solidFill>
                <a:latin typeface="Calibri"/>
              </a:rPr>
              <a:t>zero labelling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866" y="3291840"/>
            <a:ext cx="305196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60" b="0" i="0">
                <a:solidFill>
                  <a:srgbClr val="444C59"/>
                </a:solidFill>
                <a:latin typeface="Calibri"/>
              </a:rPr>
              <a:t>k-means cluster questions, auto-generate the rationales.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69866.333333334" y="4251960"/>
            <a:ext cx="3051962.333333334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69866" y="4334256"/>
            <a:ext cx="30519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B45309"/>
                </a:solidFill>
                <a:latin typeface="Calibri"/>
              </a:rPr>
              <a:t>USE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9866" y="4572000"/>
            <a:ext cx="30519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40" b="0" i="0">
                <a:solidFill>
                  <a:srgbClr val="141820"/>
                </a:solidFill>
                <a:latin typeface="Calibri"/>
              </a:rPr>
              <a:t>building a new prompt library from scratch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7316" y="1920240"/>
            <a:ext cx="3454298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1920240"/>
            <a:ext cx="3454298" cy="548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8484" y="2139696"/>
            <a:ext cx="30519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1820"/>
                </a:solidFill>
                <a:latin typeface="Calibri"/>
              </a:rPr>
              <a:t>Contrastive CoT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8484" y="2788920"/>
            <a:ext cx="305196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40" b="1" i="0">
                <a:solidFill>
                  <a:srgbClr val="BE185D"/>
                </a:solidFill>
                <a:latin typeface="Calibri"/>
              </a:rPr>
              <a:t>+15 pp w/ 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484" y="3291840"/>
            <a:ext cx="305196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60" b="0" i="0">
                <a:solidFill>
                  <a:srgbClr val="444C59"/>
                </a:solidFill>
                <a:latin typeface="Calibri"/>
              </a:rPr>
              <a:t>Show positive AND negative exemplars of a known error.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98484.666666667" y="4251960"/>
            <a:ext cx="3051962.333333333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98484" y="4334256"/>
            <a:ext cx="30519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BE185D"/>
                </a:solidFill>
                <a:latin typeface="Calibri"/>
              </a:rPr>
              <a:t>USE 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4572000"/>
            <a:ext cx="30519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40" b="0" i="0">
                <a:solidFill>
                  <a:srgbClr val="141820"/>
                </a:solidFill>
                <a:latin typeface="Calibri"/>
              </a:rPr>
              <a:t>a specific, repeatable bug pattern in production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03 — Secondary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047857"/>
                </a:solidFill>
                <a:latin typeface="Calibri"/>
              </a:rPr>
              <a:t>SECONDARY · KNOW THEY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Awareness wall: 10 more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Name-recognition only — the wiki covers each in ~50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E7F1F0"/>
          </a:solidFill>
          <a:ln w="12700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0F766E"/>
                </a:solidFill>
                <a:latin typeface="Calibri"/>
              </a:rPr>
              <a:t>GoT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8107" y="192024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F7EDE6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8107" y="192024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B45309"/>
                </a:solidFill>
                <a:latin typeface="Calibri"/>
              </a:rPr>
              <a:t>ThoT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6134" y="192024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F7EDE6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6134" y="192024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B45309"/>
                </a:solidFill>
                <a:latin typeface="Calibri"/>
              </a:rPr>
              <a:t>Analogical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161" y="192024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F7EDE6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4161" y="192024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B45309"/>
                </a:solidFill>
                <a:latin typeface="Calibri"/>
              </a:rPr>
              <a:t>S2A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2188" y="192024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F8E7EE"/>
          </a:solidFill>
          <a:ln w="12700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2188" y="192024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BE185D"/>
                </a:solidFill>
                <a:latin typeface="Calibri"/>
              </a:rPr>
              <a:t>EmotionPrompt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F8E7EE"/>
          </a:solidFill>
          <a:ln w="12700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BE185D"/>
                </a:solidFill>
                <a:latin typeface="Calibri"/>
              </a:rPr>
              <a:t>Reflexion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8107" y="274320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F8E7EE"/>
          </a:solidFill>
          <a:ln w="12700">
            <a:solidFill>
              <a:srgbClr val="E19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8107" y="274320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BE185D"/>
                </a:solidFill>
                <a:latin typeface="Calibri"/>
              </a:rPr>
              <a:t>Constitutional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6134" y="274320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E7F1F0"/>
          </a:solidFill>
          <a:ln w="12700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6134" y="274320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0F766E"/>
                </a:solidFill>
                <a:latin typeface="Calibri"/>
              </a:rPr>
              <a:t>Maieutic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161" y="274320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E7F1F0"/>
          </a:solidFill>
          <a:ln w="12700">
            <a:solidFill>
              <a:srgbClr val="93C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161" y="274320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0F766E"/>
                </a:solidFill>
                <a:latin typeface="Calibri"/>
              </a:rPr>
              <a:t>Complexity-based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2188" y="2743200"/>
            <a:ext cx="1999427" cy="640080"/>
          </a:xfrm>
          <a:prstGeom prst="roundRect">
            <a:avLst>
              <a:gd name="adj" fmla="val 4500"/>
            </a:avLst>
          </a:prstGeom>
          <a:solidFill>
            <a:srgbClr val="E8EDFB"/>
          </a:solidFill>
          <a:ln w="12700">
            <a:solidFill>
              <a:srgbClr val="99A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2188" y="2743200"/>
            <a:ext cx="19994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70" b="1" i="0">
                <a:solidFill>
                  <a:srgbClr val="1D4ED8"/>
                </a:solidFill>
                <a:latin typeface="Calibri"/>
              </a:rPr>
              <a:t>Faithful CoT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40480"/>
            <a:ext cx="5272887" cy="141732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84048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97764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E185D"/>
                </a:solidFill>
                <a:latin typeface="Calibri"/>
              </a:rPr>
              <a:t>REFLEXION — worth the name-drop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297680"/>
            <a:ext cx="476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Self-Refine </a:t>
            </a:r>
            <a:r>
              <a:rPr sz="1460" b="1">
                <a:solidFill>
                  <a:srgbClr val="141820"/>
                </a:solidFill>
                <a:latin typeface="Calibri"/>
              </a:rPr>
              <a:t>+ memory across trials</a:t>
            </a:r>
            <a:r>
              <a:rPr sz="1460" b="0">
                <a:solidFill>
                  <a:srgbClr val="141820"/>
                </a:solidFill>
                <a:latin typeface="Calibri"/>
              </a:rPr>
              <a:t>. HumanEval 80 → 91%.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Real production use case — but </a:t>
            </a:r>
            <a:r>
              <a:rPr sz="1460" b="1">
                <a:solidFill>
                  <a:srgbClr val="141820"/>
                </a:solidFill>
                <a:latin typeface="Calibri"/>
              </a:rPr>
              <a:t>needs an external verifier</a:t>
            </a:r>
            <a:r>
              <a:rPr sz="1460" b="0">
                <a:solidFill>
                  <a:srgbClr val="141820"/>
                </a:solidFill>
                <a:latin typeface="Calibr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3840480"/>
            <a:ext cx="5272887" cy="141732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8727" y="384048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4759" y="397764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45309"/>
                </a:solidFill>
                <a:latin typeface="Calibri"/>
              </a:rPr>
              <a:t>EMOTIONPROMPT — the surprising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759" y="4297680"/>
            <a:ext cx="476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“This is important to my career.” </a:t>
            </a:r>
            <a:r>
              <a:rPr sz="1460" b="1">
                <a:solidFill>
                  <a:srgbClr val="141820"/>
                </a:solidFill>
                <a:latin typeface="Calibri"/>
              </a:rPr>
              <a:t>+115%</a:t>
            </a:r>
            <a:r>
              <a:rPr sz="1460" b="0">
                <a:solidFill>
                  <a:srgbClr val="141820"/>
                </a:solidFill>
                <a:latin typeface="Calibri"/>
              </a:rPr>
              <a:t> on BIG-Bench Hard in 2023.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*Neutralised on heavy-RLHF frontier models* — re-eval after every model bump.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03 — Secondary Techniques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45309"/>
                </a:solidFill>
                <a:latin typeface="Calibri"/>
              </a:rPr>
              <a:t>LADDER · THE PHOTOGRAPHED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The 11-rung complexity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Climb only when the current rung's eval plateaus.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92808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Switch to reasoning model — CoT/ToT/PnS now redundant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6292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400300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62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36292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Compose a pipeline DAG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43784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907792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43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43784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Search — ToT (beam 2–3) or Reflexion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51276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415284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512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351276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Self-correct — Self-Refine or Constitutional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58768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22776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58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8587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External grounding — PoT or ReAct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366260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430268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3662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6626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Decompose — Least-to-Most or Chain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73752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6EAE1"/>
          </a:solidFill>
          <a:ln w="12700">
            <a:solidFill>
              <a:srgbClr val="DDB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4937760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737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873752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Plan-and-Solve  (the free upgrade)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381244"/>
            <a:ext cx="6400800" cy="4572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5445252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949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812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40" b="1" i="0">
                <a:solidFill>
                  <a:srgbClr val="FFFFFF"/>
                </a:solidFill>
                <a:latin typeface="Calibri"/>
              </a:rPr>
              <a:t>0–3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381244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C6573"/>
                </a:solidFill>
                <a:latin typeface="Calibri"/>
              </a:rPr>
              <a:t>Session 5 — Zero-shot · ZS-CoT · Few-shot CoT · SC (N=5)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1828800"/>
            <a:ext cx="4190695" cy="1517904"/>
          </a:xfrm>
          <a:prstGeom prst="roundRect">
            <a:avLst>
              <a:gd name="adj" fmla="val 4500"/>
            </a:avLst>
          </a:prstGeom>
          <a:solidFill>
            <a:srgbClr val="F7EDE6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60920" y="1828800"/>
            <a:ext cx="54864" cy="15179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8664" y="1975104"/>
            <a:ext cx="37334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600"/>
              </a:spcBef>
            </a:pPr>
            <a:r>
              <a:rPr sz="1570" b="1">
                <a:solidFill>
                  <a:srgbClr val="141820"/>
                </a:solidFill>
                <a:latin typeface="Calibri"/>
              </a:rPr>
              <a:t>The rule that matters:</a:t>
            </a:r>
          </a:p>
          <a:p>
            <a:pPr algn="l">
              <a:lnSpc>
                <a:spcPct val="116000"/>
              </a:lnSpc>
              <a:spcBef>
                <a:spcPts val="600"/>
              </a:spcBef>
            </a:pPr>
            <a:r>
              <a:rPr sz="1570" b="0">
                <a:solidFill>
                  <a:srgbClr val="141820"/>
                </a:solidFill>
                <a:latin typeface="Calibri"/>
              </a:rPr>
              <a:t>Each rung adds variance, tokens, failure modes. Moving up without eval evidence is anti-engineering.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493008"/>
            <a:ext cx="4190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45309"/>
                </a:solidFill>
                <a:latin typeface="Calibri"/>
              </a:rPr>
              <a:t>DECISION SHORTCUTS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3822191"/>
            <a:ext cx="4190695" cy="676656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3913631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Numeric task?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4187951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45309"/>
                </a:solidFill>
                <a:latin typeface="Calibri"/>
              </a:rPr>
              <a:t>→ jump to Rung 6 — PoT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4626863"/>
            <a:ext cx="4190695" cy="676656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4718303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Needs current data?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992623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45309"/>
                </a:solidFill>
                <a:latin typeface="Calibri"/>
              </a:rPr>
              <a:t>→ jump to Rung 6 — ReAct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5431535"/>
            <a:ext cx="4190695" cy="676656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5522975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Latency-OK + budget?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5797295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45309"/>
                </a:solidFill>
                <a:latin typeface="Calibri"/>
              </a:rPr>
              <a:t>→ jump to Rung 10 — reasoning model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04 — Ladder &amp; Composition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45309"/>
                </a:solidFill>
                <a:latin typeface="Calibri"/>
              </a:rPr>
              <a:t>LADDER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Six compounds that work · five that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Recognise the compounds. Name the anti-patterns.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272887" cy="457200"/>
          </a:xfrm>
          <a:prstGeom prst="roundRect">
            <a:avLst>
              <a:gd name="adj" fmla="val 45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19"/>
            <a:ext cx="5272887" cy="228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70" b="1" i="0">
                <a:solidFill>
                  <a:srgbClr val="FFFFFF"/>
                </a:solidFill>
                <a:latin typeface="Calibri"/>
              </a:rPr>
              <a:t>✓  PAIR WELL — compose freely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78023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Plan-and-Solve + 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7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plan in prose, execute 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07791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ReAct + Self-Refine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45535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act to gather evidence, then 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59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Gen-Knowledge + Step-Back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3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recall facts, then abstract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7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SC + Complexity-based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05071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vote among long chains (+15 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97095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ToT + PoT (per-leaf)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39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numeric value fn via interpreter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26863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SoT + Constitutional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7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parallel sections, lint 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1874519"/>
            <a:ext cx="5272887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78727" y="1874519"/>
            <a:ext cx="5272887" cy="457200"/>
          </a:xfrm>
          <a:prstGeom prst="roundRect">
            <a:avLst>
              <a:gd name="adj" fmla="val 45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2103119"/>
            <a:ext cx="5272887" cy="228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874519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70" b="1" i="0">
                <a:solidFill>
                  <a:srgbClr val="FFFFFF"/>
                </a:solidFill>
                <a:latin typeface="Calibri"/>
              </a:rPr>
              <a:t>✗  PAIR BADLY — skip these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2478023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ToT + Self-Refine (same trial)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7" y="2715767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refining branches you may prune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2907791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Reflexion + Self-Refine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145535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double critique, no grounding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3337559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EmotionPrompt + reasoning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7" y="3575303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neutralised, wasted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3767327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ToT + reasoning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7" y="4005071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paying twice for the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7" y="4197095"/>
            <a:ext cx="48156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41820"/>
                </a:solidFill>
                <a:latin typeface="Calibri"/>
              </a:rPr>
              <a:t>S2A + clean short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7327" y="4434839"/>
            <a:ext cx="48156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0" i="1">
                <a:solidFill>
                  <a:srgbClr val="444C59"/>
                </a:solidFill>
                <a:latin typeface="Calibri"/>
              </a:rPr>
              <a:t>rewrite overhead &gt; noise saved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285232"/>
            <a:ext cx="10911535" cy="713232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285232"/>
            <a:ext cx="6400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285232"/>
            <a:ext cx="104543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B45309"/>
                </a:solidFill>
                <a:latin typeface="Calibri"/>
              </a:rPr>
              <a:t>SHIP IT  </a:t>
            </a:r>
            <a:r>
              <a:rPr sz="1510" b="1">
                <a:solidFill>
                  <a:srgbClr val="141820"/>
                </a:solidFill>
                <a:latin typeface="Calibri"/>
              </a:rPr>
              <a:t>Ablation discipline:</a:t>
            </a:r>
            <a:r>
              <a:rPr sz="1510" b="0">
                <a:solidFill>
                  <a:srgbClr val="141820"/>
                </a:solidFill>
                <a:latin typeface="Calibri"/>
              </a:rPr>
              <a:t> take a compound in your stack, disable one half, re-measure on the eval set. If accuracy doesn't move, the disabled half is ceremony.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04 — Ladder &amp; 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45309"/>
                </a:solidFill>
                <a:latin typeface="Calibri"/>
              </a:rPr>
              <a:t>LADDER · COST IS A FIRST-CLASS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Cost lookup (× a single CoT call)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The token-cost spread across techniques is ~100×.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Plan-and-Solve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938528"/>
            <a:ext cx="149000" cy="2560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600" y="190195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5803D"/>
                </a:solidFill>
                <a:latin typeface="Calibri"/>
              </a:rPr>
              <a:t>1.1×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800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PoT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354580"/>
            <a:ext cx="285028" cy="2560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2628" y="231800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5803D"/>
                </a:solidFill>
                <a:latin typeface="Calibri"/>
              </a:rPr>
              <a:t>1.2×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34056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Step-Back / GenKnow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770632"/>
            <a:ext cx="1083615" cy="2560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1215" y="273405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5803D"/>
                </a:solidFill>
                <a:latin typeface="Calibri"/>
              </a:rPr>
              <a:t>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0108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Self-Refine (2 rounds)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186684"/>
            <a:ext cx="2167231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831" y="315010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B45309"/>
                </a:solidFill>
                <a:latin typeface="Calibri"/>
              </a:rPr>
              <a:t>3–4×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ReAct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602736"/>
            <a:ext cx="4233568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168" y="356616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B45309"/>
                </a:solidFill>
                <a:latin typeface="Calibri"/>
              </a:rPr>
              <a:t>4–15×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8221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Reflexion (5 trials)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018788"/>
            <a:ext cx="4683309" cy="2560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0909" y="398221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B91C1C"/>
                </a:solidFill>
                <a:latin typeface="Calibri"/>
              </a:rPr>
              <a:t>5–20×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9826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141820"/>
                </a:solidFill>
                <a:latin typeface="Calibri"/>
              </a:rPr>
              <a:t>ToT (beam 3, depth 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434840"/>
            <a:ext cx="6115771" cy="2560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3371" y="439826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60" b="1" i="0">
                <a:solidFill>
                  <a:srgbClr val="B91C1C"/>
                </a:solidFill>
                <a:latin typeface="Calibri"/>
              </a:rPr>
              <a:t>30–50×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41748"/>
            <a:ext cx="10911535" cy="502920"/>
          </a:xfrm>
          <a:prstGeom prst="roundRect">
            <a:avLst>
              <a:gd name="adj" fmla="val 4500"/>
            </a:avLst>
          </a:prstGeom>
          <a:solidFill>
            <a:srgbClr val="E7F2EB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841748"/>
            <a:ext cx="5486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933188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1400" b="1">
                <a:solidFill>
                  <a:srgbClr val="141820"/>
                </a:solidFill>
                <a:latin typeface="Calibri"/>
              </a:rPr>
              <a:t>Skeleton-of-Thought:</a:t>
            </a:r>
            <a:r>
              <a:rPr sz="1400" b="0">
                <a:solidFill>
                  <a:srgbClr val="141820"/>
                </a:solidFill>
                <a:latin typeface="Calibri"/>
              </a:rPr>
              <a:t> ~1× tokens but </a:t>
            </a:r>
            <a:r>
              <a:rPr sz="1400" b="1">
                <a:solidFill>
                  <a:srgbClr val="141820"/>
                </a:solidFill>
                <a:latin typeface="Calibri"/>
              </a:rPr>
              <a:t>N+1 parallel calls</a:t>
            </a:r>
            <a:r>
              <a:rPr sz="1400" b="0">
                <a:solidFill>
                  <a:srgbClr val="141820"/>
                </a:solidFill>
                <a:latin typeface="Calibri"/>
              </a:rPr>
              <a:t> — same cost, saves wall-clock (not a cost play, a latency play).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10911535" cy="566928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486400"/>
            <a:ext cx="64008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B45309"/>
                </a:solidFill>
                <a:latin typeface="Calibri"/>
              </a:rPr>
              <a:t>SHIP IT  </a:t>
            </a:r>
            <a:r>
              <a:rPr sz="1510" b="0">
                <a:solidFill>
                  <a:srgbClr val="141820"/>
                </a:solidFill>
                <a:latin typeface="Calibri"/>
              </a:rPr>
              <a:t>When MLflow shows ToT at </a:t>
            </a:r>
            <a:r>
              <a:rPr sz="1510" b="1">
                <a:solidFill>
                  <a:srgbClr val="141820"/>
                </a:solidFill>
                <a:latin typeface="Calibri"/>
              </a:rPr>
              <a:t>$0.30/call</a:t>
            </a:r>
            <a:r>
              <a:rPr sz="1510" b="0">
                <a:solidFill>
                  <a:srgbClr val="141820"/>
                </a:solidFill>
                <a:latin typeface="Calibri"/>
              </a:rPr>
              <a:t> vs PnS at </a:t>
            </a:r>
            <a:r>
              <a:rPr sz="1510" b="1">
                <a:solidFill>
                  <a:srgbClr val="141820"/>
                </a:solidFill>
                <a:latin typeface="Calibri"/>
              </a:rPr>
              <a:t>$0.005</a:t>
            </a:r>
            <a:r>
              <a:rPr sz="1510" b="0">
                <a:solidFill>
                  <a:srgbClr val="141820"/>
                </a:solidFill>
                <a:latin typeface="Calibri"/>
              </a:rPr>
              <a:t>, the architecture decision is settled by the number, not the opinion.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04 — Ladder &amp; Composition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E185D"/>
                </a:solidFill>
                <a:latin typeface="Calibri"/>
              </a:rPr>
              <a:t>REASONING MODELS · THE PLAYBOOK FLIPS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Reasoning models: read the guidance exactly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Avoid CoT prompts. Asking it to reason more can hurt.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1600200"/>
          </a:xfrm>
          <a:prstGeom prst="roundRect">
            <a:avLst>
              <a:gd name="adj" fmla="val 4500"/>
            </a:avLst>
          </a:prstGeom>
          <a:solidFill>
            <a:srgbClr val="FAEEF3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16002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3911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BE185D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41447"/>
            <a:ext cx="47242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80" b="0" i="1">
                <a:solidFill>
                  <a:srgbClr val="141820"/>
                </a:solidFill>
                <a:latin typeface="Calibri"/>
              </a:rPr>
              <a:t>“Avoid chain-of-thought prompts — since these models reason internally, prompting them to ‘think step by step’ is unnecessary.”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74519"/>
            <a:ext cx="5272887" cy="1600200"/>
          </a:xfrm>
          <a:prstGeom prst="roundRect">
            <a:avLst>
              <a:gd name="adj" fmla="val 4500"/>
            </a:avLst>
          </a:prstGeom>
          <a:solidFill>
            <a:srgbClr val="FAEEF3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19"/>
            <a:ext cx="54864" cy="16002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3911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BE185D"/>
                </a:solidFill>
                <a:latin typeface="Calibri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2441447"/>
            <a:ext cx="47242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80" b="0" i="1">
                <a:solidFill>
                  <a:srgbClr val="141820"/>
                </a:solidFill>
                <a:latin typeface="Calibri"/>
              </a:rPr>
              <a:t>“Asking a reasoning model to reason more may actually hurt the performance.”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1">
                <a:solidFill>
                  <a:srgbClr val="5C6573"/>
                </a:solidFill>
                <a:latin typeface="Calibri"/>
              </a:rPr>
              <a:t>— OpenAI · official o1 / o3 prompting guidance · use the `developer` role on o1-2024-12-17+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10911535" cy="182880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6" y="4233672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43584" y="4233672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187952"/>
            <a:ext cx="99056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30" b="1" i="0">
                <a:solidFill>
                  <a:srgbClr val="BE185D"/>
                </a:solidFill>
                <a:latin typeface="Calibri"/>
              </a:rPr>
              <a:t>o-series — set effort, not CoT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453128"/>
            <a:ext cx="10399471" cy="1261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client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chat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completions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create</a:t>
            </a:r>
            <a:r>
              <a:rPr sz="1200">
                <a:solidFill>
                  <a:srgbClr val="383A42"/>
                </a:solidFill>
                <a:latin typeface="Consolas"/>
              </a:rPr>
              <a:t>(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    </a:t>
            </a:r>
            <a:r>
              <a:rPr sz="1200">
                <a:solidFill>
                  <a:srgbClr val="383A42"/>
                </a:solidFill>
                <a:latin typeface="Consolas"/>
              </a:rPr>
              <a:t>model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2F7D32"/>
                </a:solidFill>
                <a:latin typeface="Consolas"/>
              </a:rPr>
              <a:t>'o3'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    </a:t>
            </a:r>
            <a:r>
              <a:rPr sz="1200">
                <a:solidFill>
                  <a:srgbClr val="383A42"/>
                </a:solidFill>
                <a:latin typeface="Consolas"/>
              </a:rPr>
              <a:t>reasoning_effort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2F7D32"/>
                </a:solidFill>
                <a:latin typeface="Consolas"/>
              </a:rPr>
              <a:t>'medium'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  <a:r>
              <a:rPr sz="1200">
                <a:solidFill>
                  <a:srgbClr val="383A42"/>
                </a:solidFill>
                <a:latin typeface="Consolas"/>
              </a:rPr>
              <a:t>   </a:t>
            </a:r>
            <a:r>
              <a:rPr sz="1200">
                <a:solidFill>
                  <a:srgbClr val="6B7280"/>
                </a:solidFill>
                <a:latin typeface="Consolas"/>
              </a:rPr>
              <a:t># 'low' | 'medium' | 'high'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    </a:t>
            </a:r>
            <a:r>
              <a:rPr sz="1200">
                <a:solidFill>
                  <a:srgbClr val="383A42"/>
                </a:solidFill>
                <a:latin typeface="Consolas"/>
              </a:rPr>
              <a:t>messages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383A42"/>
                </a:solidFill>
                <a:latin typeface="Consolas"/>
              </a:rPr>
              <a:t>[</a:t>
            </a:r>
            <a:r>
              <a:rPr sz="1200">
                <a:solidFill>
                  <a:srgbClr val="383A42"/>
                </a:solidFill>
                <a:latin typeface="Consolas"/>
              </a:rPr>
              <a:t>{</a:t>
            </a:r>
            <a:r>
              <a:rPr sz="1200">
                <a:solidFill>
                  <a:srgbClr val="2F7D32"/>
                </a:solidFill>
                <a:latin typeface="Consolas"/>
              </a:rPr>
              <a:t>'role'</a:t>
            </a:r>
            <a:r>
              <a:rPr sz="1200">
                <a:solidFill>
                  <a:srgbClr val="383A42"/>
                </a:solidFill>
                <a:latin typeface="Consolas"/>
              </a:rPr>
              <a:t>: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2F7D32"/>
                </a:solidFill>
                <a:latin typeface="Consolas"/>
              </a:rPr>
              <a:t>'developer'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2F7D32"/>
                </a:solidFill>
                <a:latin typeface="Consolas"/>
              </a:rPr>
              <a:t>'content'</a:t>
            </a:r>
            <a:r>
              <a:rPr sz="1200">
                <a:solidFill>
                  <a:srgbClr val="383A42"/>
                </a:solidFill>
                <a:latin typeface="Consolas"/>
              </a:rPr>
              <a:t>: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2F7D32"/>
                </a:solidFill>
                <a:latin typeface="Consolas"/>
              </a:rPr>
              <a:t>'You are a senior SRE.'</a:t>
            </a:r>
            <a:r>
              <a:rPr sz="1200">
                <a:solidFill>
                  <a:srgbClr val="383A42"/>
                </a:solidFill>
                <a:latin typeface="Consolas"/>
              </a:rPr>
              <a:t>}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              </a:t>
            </a:r>
            <a:r>
              <a:rPr sz="1200">
                <a:solidFill>
                  <a:srgbClr val="383A42"/>
                </a:solidFill>
                <a:latin typeface="Consolas"/>
              </a:rPr>
              <a:t>{</a:t>
            </a:r>
            <a:r>
              <a:rPr sz="1200">
                <a:solidFill>
                  <a:srgbClr val="2F7D32"/>
                </a:solidFill>
                <a:latin typeface="Consolas"/>
              </a:rPr>
              <a:t>'role'</a:t>
            </a:r>
            <a:r>
              <a:rPr sz="1200">
                <a:solidFill>
                  <a:srgbClr val="383A42"/>
                </a:solidFill>
                <a:latin typeface="Consolas"/>
              </a:rPr>
              <a:t>: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2F7D32"/>
                </a:solidFill>
                <a:latin typeface="Consolas"/>
              </a:rPr>
              <a:t>'user'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2F7D32"/>
                </a:solidFill>
                <a:latin typeface="Consolas"/>
              </a:rPr>
              <a:t>'content'</a:t>
            </a:r>
            <a:r>
              <a:rPr sz="1200">
                <a:solidFill>
                  <a:srgbClr val="383A42"/>
                </a:solidFill>
                <a:latin typeface="Consolas"/>
              </a:rPr>
              <a:t>: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query</a:t>
            </a:r>
            <a:r>
              <a:rPr sz="1200">
                <a:solidFill>
                  <a:srgbClr val="383A42"/>
                </a:solidFill>
                <a:latin typeface="Consolas"/>
              </a:rPr>
              <a:t>}</a:t>
            </a:r>
            <a:r>
              <a:rPr sz="1200">
                <a:solidFill>
                  <a:srgbClr val="383A42"/>
                </a:solidFill>
                <a:latin typeface="Consolas"/>
              </a:rPr>
              <a:t>]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05 — Reasoning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E185D"/>
                </a:solidFill>
                <a:latin typeface="Calibri"/>
              </a:rPr>
              <a:t>REASONING MODELS · THE BUDGET KNOB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Claude Extended Thinking · Gemini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Every vendor exposes a budget knob.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25146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272887" cy="548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0823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E185D"/>
                </a:solidFill>
                <a:latin typeface="Calibri"/>
              </a:rPr>
              <a:t>CLAUDE EXTENDED THINKING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77439"/>
            <a:ext cx="4815687" cy="182880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848" y="2542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71016" y="2542031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72184" y="2542031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761487"/>
            <a:ext cx="4303623" cy="1261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client</a:t>
            </a:r>
            <a:r>
              <a:rPr sz="1000">
                <a:solidFill>
                  <a:srgbClr val="383A42"/>
                </a:solidFill>
                <a:latin typeface="Consolas"/>
              </a:rPr>
              <a:t>.</a:t>
            </a:r>
            <a:r>
              <a:rPr sz="1000">
                <a:solidFill>
                  <a:srgbClr val="383A42"/>
                </a:solidFill>
                <a:latin typeface="Consolas"/>
              </a:rPr>
              <a:t>messages</a:t>
            </a:r>
            <a:r>
              <a:rPr sz="1000">
                <a:solidFill>
                  <a:srgbClr val="383A42"/>
                </a:solidFill>
                <a:latin typeface="Consolas"/>
              </a:rPr>
              <a:t>.</a:t>
            </a:r>
            <a:r>
              <a:rPr sz="1000">
                <a:solidFill>
                  <a:srgbClr val="383A42"/>
                </a:solidFill>
                <a:latin typeface="Consolas"/>
              </a:rPr>
              <a:t>create</a:t>
            </a:r>
            <a:r>
              <a:rPr sz="1000">
                <a:solidFill>
                  <a:srgbClr val="383A42"/>
                </a:solidFill>
                <a:latin typeface="Consolas"/>
              </a:rPr>
              <a:t>(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    </a:t>
            </a:r>
            <a:r>
              <a:rPr sz="1000">
                <a:solidFill>
                  <a:srgbClr val="383A42"/>
                </a:solidFill>
                <a:latin typeface="Consolas"/>
              </a:rPr>
              <a:t>model</a:t>
            </a:r>
            <a:r>
              <a:rPr sz="1000">
                <a:solidFill>
                  <a:srgbClr val="383A42"/>
                </a:solidFill>
                <a:latin typeface="Consolas"/>
              </a:rPr>
              <a:t>=</a:t>
            </a:r>
            <a:r>
              <a:rPr sz="1000">
                <a:solidFill>
                  <a:srgbClr val="2F7D32"/>
                </a:solidFill>
                <a:latin typeface="Consolas"/>
              </a:rPr>
              <a:t>'claude-sonnet-4-6'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    </a:t>
            </a:r>
            <a:r>
              <a:rPr sz="1000">
                <a:solidFill>
                  <a:srgbClr val="383A42"/>
                </a:solidFill>
                <a:latin typeface="Consolas"/>
              </a:rPr>
              <a:t>thinking</a:t>
            </a:r>
            <a:r>
              <a:rPr sz="1000">
                <a:solidFill>
                  <a:srgbClr val="383A42"/>
                </a:solidFill>
                <a:latin typeface="Consolas"/>
              </a:rPr>
              <a:t>=</a:t>
            </a:r>
            <a:r>
              <a:rPr sz="1000">
                <a:solidFill>
                  <a:srgbClr val="383A42"/>
                </a:solidFill>
                <a:latin typeface="Consolas"/>
              </a:rPr>
              <a:t>{</a:t>
            </a:r>
            <a:r>
              <a:rPr sz="1000">
                <a:solidFill>
                  <a:srgbClr val="2F7D32"/>
                </a:solidFill>
                <a:latin typeface="Consolas"/>
              </a:rPr>
              <a:t>'type'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2F7D32"/>
                </a:solidFill>
                <a:latin typeface="Consolas"/>
              </a:rPr>
              <a:t>'enabled'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              </a:t>
            </a:r>
            <a:r>
              <a:rPr sz="1000">
                <a:solidFill>
                  <a:srgbClr val="2F7D32"/>
                </a:solidFill>
                <a:latin typeface="Consolas"/>
              </a:rPr>
              <a:t>'budget_tokens'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 </a:t>
            </a:r>
            <a:r>
              <a:rPr sz="1000">
                <a:solidFill>
                  <a:srgbClr val="986801"/>
                </a:solidFill>
                <a:latin typeface="Consolas"/>
              </a:rPr>
              <a:t>8000</a:t>
            </a:r>
            <a:r>
              <a:rPr sz="1000">
                <a:solidFill>
                  <a:srgbClr val="383A42"/>
                </a:solidFill>
                <a:latin typeface="Consolas"/>
              </a:rPr>
              <a:t>}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    </a:t>
            </a:r>
            <a:r>
              <a:rPr sz="1000">
                <a:solidFill>
                  <a:srgbClr val="383A42"/>
                </a:solidFill>
                <a:latin typeface="Consolas"/>
              </a:rPr>
              <a:t>messages</a:t>
            </a:r>
            <a:r>
              <a:rPr sz="1000">
                <a:solidFill>
                  <a:srgbClr val="383A42"/>
                </a:solidFill>
                <a:latin typeface="Consolas"/>
              </a:rPr>
              <a:t>=</a:t>
            </a:r>
            <a:r>
              <a:rPr sz="1000">
                <a:solidFill>
                  <a:srgbClr val="383A42"/>
                </a:solidFill>
                <a:latin typeface="Consolas"/>
              </a:rPr>
              <a:t>[</a:t>
            </a:r>
            <a:r>
              <a:rPr sz="1000">
                <a:solidFill>
                  <a:srgbClr val="383A42"/>
                </a:solidFill>
                <a:latin typeface="Consolas"/>
              </a:rPr>
              <a:t>{</a:t>
            </a:r>
            <a:r>
              <a:rPr sz="1000">
                <a:solidFill>
                  <a:srgbClr val="2F7D32"/>
                </a:solidFill>
                <a:latin typeface="Consolas"/>
              </a:rPr>
              <a:t>'role'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2F7D32"/>
                </a:solidFill>
                <a:latin typeface="Consolas"/>
              </a:rPr>
              <a:t>'user'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  <a:r>
              <a:rPr sz="1000">
                <a:solidFill>
                  <a:srgbClr val="2F7D32"/>
                </a:solidFill>
                <a:latin typeface="Consolas"/>
              </a:rPr>
              <a:t>'content'</a:t>
            </a:r>
            <a:r>
              <a:rPr sz="1000">
                <a:solidFill>
                  <a:srgbClr val="383A42"/>
                </a:solidFill>
                <a:latin typeface="Consolas"/>
              </a:rPr>
              <a:t>:</a:t>
            </a:r>
            <a:r>
              <a:rPr sz="1000">
                <a:solidFill>
                  <a:srgbClr val="383A42"/>
                </a:solidFill>
                <a:latin typeface="Consolas"/>
              </a:rPr>
              <a:t>query</a:t>
            </a:r>
            <a:r>
              <a:rPr sz="1000">
                <a:solidFill>
                  <a:srgbClr val="383A42"/>
                </a:solidFill>
                <a:latin typeface="Consolas"/>
              </a:rPr>
              <a:t>}</a:t>
            </a:r>
            <a:r>
              <a:rPr sz="1000">
                <a:solidFill>
                  <a:srgbClr val="383A42"/>
                </a:solidFill>
                <a:latin typeface="Consolas"/>
              </a:rPr>
              <a:t>]</a:t>
            </a:r>
            <a:r>
              <a:rPr sz="10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000">
                <a:solidFill>
                  <a:srgbClr val="6B7280"/>
                </a:solidFill>
                <a:latin typeface="Consolas"/>
              </a:rPr>
              <a:t># `think` tool: +54% pass^1 (Tau-Bench airline)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874519"/>
            <a:ext cx="5272887" cy="25146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1874519"/>
            <a:ext cx="5272887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2020823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GEMINI — two APIs, don't mix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7327" y="2377439"/>
            <a:ext cx="4815687" cy="182880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08495" y="2542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9663" y="2542031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10831" y="2542031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3359" y="2761487"/>
            <a:ext cx="4303623" cy="1261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>
                <a:solidFill>
                  <a:srgbClr val="6B7280"/>
                </a:solidFill>
                <a:latin typeface="Consolas"/>
              </a:rPr>
              <a:t># Gemini 2.5 — numeric budget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{</a:t>
            </a:r>
            <a:r>
              <a:rPr sz="900">
                <a:solidFill>
                  <a:srgbClr val="2F7D32"/>
                </a:solidFill>
                <a:latin typeface="Consolas"/>
              </a:rPr>
              <a:t>'thinking_config'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</a:t>
            </a:r>
            <a:r>
              <a:rPr sz="900">
                <a:solidFill>
                  <a:srgbClr val="383A42"/>
                </a:solidFill>
                <a:latin typeface="Consolas"/>
              </a:rPr>
              <a:t>{</a:t>
            </a:r>
            <a:r>
              <a:rPr sz="900">
                <a:solidFill>
                  <a:srgbClr val="2F7D32"/>
                </a:solidFill>
                <a:latin typeface="Consolas"/>
              </a:rPr>
              <a:t>'thinking_budget'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-</a:t>
            </a:r>
            <a:r>
              <a:rPr sz="900">
                <a:solidFill>
                  <a:srgbClr val="986801"/>
                </a:solidFill>
                <a:latin typeface="Consolas"/>
              </a:rPr>
              <a:t>1</a:t>
            </a:r>
            <a:r>
              <a:rPr sz="900">
                <a:solidFill>
                  <a:srgbClr val="383A42"/>
                </a:solidFill>
                <a:latin typeface="Consolas"/>
              </a:rPr>
              <a:t>}</a:t>
            </a:r>
            <a:r>
              <a:rPr sz="900">
                <a:solidFill>
                  <a:srgbClr val="383A42"/>
                </a:solidFill>
                <a:latin typeface="Consolas"/>
              </a:rPr>
              <a:t>}</a:t>
            </a:r>
            <a:r>
              <a:rPr sz="900">
                <a:solidFill>
                  <a:srgbClr val="383A42"/>
                </a:solidFill>
                <a:latin typeface="Consolas"/>
              </a:rPr>
              <a:t>  </a:t>
            </a:r>
            <a:r>
              <a:rPr sz="900">
                <a:solidFill>
                  <a:srgbClr val="6B7280"/>
                </a:solidFill>
                <a:latin typeface="Consolas"/>
              </a:rPr>
              <a:t># 0=off, -1=dynamic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6B7280"/>
                </a:solidFill>
                <a:latin typeface="Consolas"/>
              </a:rPr>
              <a:t># Gemini 3 — categorical (recommended)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{</a:t>
            </a:r>
            <a:r>
              <a:rPr sz="900">
                <a:solidFill>
                  <a:srgbClr val="2F7D32"/>
                </a:solidFill>
                <a:latin typeface="Consolas"/>
              </a:rPr>
              <a:t>'thinking_level'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F7D32"/>
                </a:solidFill>
                <a:latin typeface="Consolas"/>
              </a:rPr>
              <a:t>'high'</a:t>
            </a:r>
            <a:r>
              <a:rPr sz="900">
                <a:solidFill>
                  <a:srgbClr val="383A42"/>
                </a:solidFill>
                <a:latin typeface="Consolas"/>
              </a:rPr>
              <a:t>}</a:t>
            </a:r>
            <a:r>
              <a:rPr sz="900">
                <a:solidFill>
                  <a:srgbClr val="383A42"/>
                </a:solidFill>
                <a:latin typeface="Consolas"/>
              </a:rPr>
              <a:t>  </a:t>
            </a:r>
            <a:r>
              <a:rPr sz="900">
                <a:solidFill>
                  <a:srgbClr val="6B7280"/>
                </a:solidFill>
                <a:latin typeface="Consolas"/>
              </a:rPr>
              <a:t># low | medium | 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10911535" cy="960120"/>
          </a:xfrm>
          <a:prstGeom prst="roundRect">
            <a:avLst>
              <a:gd name="adj" fmla="val 4500"/>
            </a:avLst>
          </a:prstGeom>
          <a:solidFill>
            <a:srgbClr val="FAEFE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617720"/>
            <a:ext cx="54864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18304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91C1C"/>
                </a:solidFill>
                <a:latin typeface="Calibri"/>
              </a:rPr>
              <a:t>⚠ COMPATIBILITY FOOTGUN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29200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460" b="0">
                <a:solidFill>
                  <a:srgbClr val="141820"/>
                </a:solidFill>
                <a:latin typeface="Calibri"/>
              </a:rPr>
              <a:t>Never pass OpenAI </a:t>
            </a:r>
            <a:r>
              <a:rPr sz="1340" b="0">
                <a:solidFill>
                  <a:srgbClr val="0E7490"/>
                </a:solidFill>
                <a:latin typeface="Consolas"/>
              </a:rPr>
              <a:t>reasoning_effort</a:t>
            </a:r>
            <a:r>
              <a:rPr sz="1460" b="0">
                <a:solidFill>
                  <a:srgbClr val="141820"/>
                </a:solidFill>
                <a:latin typeface="Calibri"/>
              </a:rPr>
              <a:t> and Gemini </a:t>
            </a:r>
            <a:r>
              <a:rPr sz="1340" b="0">
                <a:solidFill>
                  <a:srgbClr val="0E7490"/>
                </a:solidFill>
                <a:latin typeface="Consolas"/>
              </a:rPr>
              <a:t>thinking_level</a:t>
            </a:r>
            <a:r>
              <a:rPr sz="1460" b="0">
                <a:solidFill>
                  <a:srgbClr val="141820"/>
                </a:solidFill>
                <a:latin typeface="Calibri"/>
              </a:rPr>
              <a:t> through the same OpenAI-compatible adapter — it picks one or errors.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05 — Reasoning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E185D"/>
                </a:solidFill>
                <a:latin typeface="Calibri"/>
              </a:rPr>
              <a:t>REASONING MODELS · WHAT TO DROP, WHAT TO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What dies · what survives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Drop CoT/ToT/PnS. Keep ReAct/PoT/Reflexion/Decomposition.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2880360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DC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79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B91C1C"/>
                </a:solidFill>
                <a:latin typeface="Calibri"/>
              </a:rPr>
              <a:t>REDUNDANT — the model does this in its thinking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59"/>
            <a:ext cx="4815687" cy="2148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00" b="1">
                <a:solidFill>
                  <a:srgbClr val="B91C1C"/>
                </a:solidFill>
                <a:latin typeface="Calibri"/>
              </a:rPr>
              <a:t>✗  </a:t>
            </a:r>
            <a:r>
              <a:rPr sz="1500" strike="sngStrike">
                <a:solidFill>
                  <a:srgbClr val="444C59"/>
                </a:solidFill>
                <a:latin typeface="Calibri"/>
              </a:rPr>
              <a:t>Zero-shot CoT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00" b="1">
                <a:solidFill>
                  <a:srgbClr val="B91C1C"/>
                </a:solidFill>
                <a:latin typeface="Calibri"/>
              </a:rPr>
              <a:t>✗  </a:t>
            </a:r>
            <a:r>
              <a:rPr sz="1500" strike="sngStrike">
                <a:solidFill>
                  <a:srgbClr val="444C59"/>
                </a:solidFill>
                <a:latin typeface="Calibri"/>
              </a:rPr>
              <a:t>Plan-and-Solve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00" b="1">
                <a:solidFill>
                  <a:srgbClr val="B91C1C"/>
                </a:solidFill>
                <a:latin typeface="Calibri"/>
              </a:rPr>
              <a:t>✗  </a:t>
            </a:r>
            <a:r>
              <a:rPr sz="1500" strike="sngStrike">
                <a:solidFill>
                  <a:srgbClr val="444C59"/>
                </a:solidFill>
                <a:latin typeface="Calibri"/>
              </a:rPr>
              <a:t>Tree of Thoughts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00" b="1">
                <a:solidFill>
                  <a:srgbClr val="B91C1C"/>
                </a:solidFill>
                <a:latin typeface="Calibri"/>
              </a:rPr>
              <a:t>✗  </a:t>
            </a:r>
            <a:r>
              <a:rPr sz="1500" strike="sngStrike">
                <a:solidFill>
                  <a:srgbClr val="444C59"/>
                </a:solidFill>
                <a:latin typeface="Calibri"/>
              </a:rPr>
              <a:t>Auto-CoT exemplars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00" b="1">
                <a:solidFill>
                  <a:srgbClr val="B91C1C"/>
                </a:solidFill>
                <a:latin typeface="Calibri"/>
              </a:rPr>
              <a:t>✗  </a:t>
            </a:r>
            <a:r>
              <a:rPr sz="1500" strike="sngStrike">
                <a:solidFill>
                  <a:srgbClr val="444C59"/>
                </a:solidFill>
                <a:latin typeface="Calibri"/>
              </a:rPr>
              <a:t>Self-Consistency (offline tasks)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874519"/>
            <a:ext cx="5272887" cy="288036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8AB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011679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5803D"/>
                </a:solidFill>
                <a:latin typeface="Calibri"/>
              </a:rPr>
              <a:t>STILL VALUABLE — orthogonal to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59"/>
            <a:ext cx="4815687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5803D"/>
                </a:solidFill>
                <a:latin typeface="Calibri"/>
              </a:rPr>
              <a:t>✓  </a:t>
            </a:r>
            <a:r>
              <a:rPr sz="1400" b="0">
                <a:solidFill>
                  <a:srgbClr val="141820"/>
                </a:solidFill>
                <a:latin typeface="Calibri"/>
              </a:rPr>
              <a:t>Decomposition / Chaining — task structure is your job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00" b="1">
                <a:solidFill>
                  <a:srgbClr val="15803D"/>
                </a:solidFill>
                <a:latin typeface="Calibri"/>
              </a:rPr>
              <a:t>✓  </a:t>
            </a:r>
            <a:r>
              <a:rPr sz="1400" b="0">
                <a:solidFill>
                  <a:srgbClr val="141820"/>
                </a:solidFill>
                <a:latin typeface="Calibri"/>
              </a:rPr>
              <a:t>ReAct — tool use is orthogonal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00" b="1">
                <a:solidFill>
                  <a:srgbClr val="15803D"/>
                </a:solidFill>
                <a:latin typeface="Calibri"/>
              </a:rPr>
              <a:t>✓  </a:t>
            </a:r>
            <a:r>
              <a:rPr sz="1400" b="0">
                <a:solidFill>
                  <a:srgbClr val="141820"/>
                </a:solidFill>
                <a:latin typeface="Calibri"/>
              </a:rPr>
              <a:t>PoT — interpreters still beat LLM arithmetic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00" b="1">
                <a:solidFill>
                  <a:srgbClr val="15803D"/>
                </a:solidFill>
                <a:latin typeface="Calibri"/>
              </a:rPr>
              <a:t>✓  </a:t>
            </a:r>
            <a:r>
              <a:rPr sz="1400" b="0">
                <a:solidFill>
                  <a:srgbClr val="141820"/>
                </a:solidFill>
                <a:latin typeface="Calibri"/>
              </a:rPr>
              <a:t>Reflexion — cross-trial memory the model lacks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00" b="1">
                <a:solidFill>
                  <a:srgbClr val="15803D"/>
                </a:solidFill>
                <a:latin typeface="Calibri"/>
              </a:rPr>
              <a:t>✓  </a:t>
            </a:r>
            <a:r>
              <a:rPr sz="1400" b="0">
                <a:solidFill>
                  <a:srgbClr val="141820"/>
                </a:solidFill>
                <a:latin typeface="Calibri"/>
              </a:rPr>
              <a:t>Constitutional · S2A · ThoT — context-cleaning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400" b="1">
                <a:solidFill>
                  <a:srgbClr val="15803D"/>
                </a:solidFill>
                <a:latin typeface="Calibri"/>
              </a:rPr>
              <a:t>✓  </a:t>
            </a:r>
            <a:r>
              <a:rPr sz="1400" b="0">
                <a:solidFill>
                  <a:srgbClr val="141820"/>
                </a:solidFill>
                <a:latin typeface="Calibri"/>
              </a:rPr>
              <a:t>Skeleton-of-Thought — latency is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10911535" cy="566928"/>
          </a:xfrm>
          <a:prstGeom prst="roundRect">
            <a:avLst>
              <a:gd name="adj" fmla="val 4500"/>
            </a:avLst>
          </a:prstGeom>
          <a:solidFill>
            <a:srgbClr val="F8E7EE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54864" cy="56692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02920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400" b="1">
                <a:solidFill>
                  <a:srgbClr val="141820"/>
                </a:solidFill>
                <a:latin typeface="Calibri"/>
              </a:rPr>
              <a:t>The doubled-cost trap:</a:t>
            </a:r>
            <a:r>
              <a:rPr sz="1400" b="0">
                <a:solidFill>
                  <a:srgbClr val="141820"/>
                </a:solidFill>
                <a:latin typeface="Calibri"/>
              </a:rPr>
              <a:t> Wharton GAIL 2025 — o3-mini + explicit CoT = </a:t>
            </a:r>
            <a:r>
              <a:rPr sz="1400" b="1">
                <a:solidFill>
                  <a:srgbClr val="141820"/>
                </a:solidFill>
                <a:latin typeface="Calibri"/>
              </a:rPr>
              <a:t>+2.9% at 20–80% more tokens</a:t>
            </a:r>
            <a:r>
              <a:rPr sz="1400" b="0">
                <a:solidFill>
                  <a:srgbClr val="141820"/>
                </a:solidFill>
                <a:latin typeface="Calibri"/>
              </a:rPr>
              <a:t>. Hand-engineering reasoning on a reasoning model pays twice for worse results.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05 — Reasoning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D4ED8"/>
                </a:solidFill>
                <a:latin typeface="Calibri"/>
              </a:rPr>
              <a:t>PRODUCTION · THE TAPE RECORDER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MLflow Tracing 3.10+ — every call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Five lines turn any chain or agent into a debuggable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72887" cy="11430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7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D4ED8"/>
                </a:solidFill>
                <a:latin typeface="Calibri"/>
              </a:rPr>
              <a:t>1 · Decorator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95143"/>
            <a:ext cx="4815687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9A6700"/>
                </a:solidFill>
                <a:latin typeface="Consolas"/>
              </a:rPr>
              <a:t>@mlflow.trace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name</a:t>
            </a:r>
            <a:r>
              <a:rPr sz="1100">
                <a:solidFill>
                  <a:srgbClr val="383A42"/>
                </a:solidFill>
                <a:latin typeface="Consolas"/>
              </a:rPr>
              <a:t>=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  </a:t>
            </a:r>
            <a:r>
              <a:rPr sz="1100">
                <a:solidFill>
                  <a:srgbClr val="383A42"/>
                </a:solidFill>
                <a:latin typeface="Consolas"/>
              </a:rPr>
              <a:t>span_type</a:t>
            </a:r>
            <a:r>
              <a:rPr sz="1100">
                <a:solidFill>
                  <a:srgbClr val="383A42"/>
                </a:solidFill>
                <a:latin typeface="Consolas"/>
              </a:rPr>
              <a:t>=</a:t>
            </a:r>
            <a:r>
              <a:rPr sz="1100">
                <a:solidFill>
                  <a:srgbClr val="383A42"/>
                </a:solidFill>
                <a:latin typeface="Consolas"/>
              </a:rPr>
              <a:t>SpanType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LLM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74519"/>
            <a:ext cx="5272887" cy="11430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19"/>
            <a:ext cx="54864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1984247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D4ED8"/>
                </a:solidFill>
                <a:latin typeface="Calibri"/>
              </a:rPr>
              <a:t>2 · Nested spans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2295143"/>
            <a:ext cx="4815687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A626A4"/>
                </a:solidFill>
                <a:latin typeface="Consolas"/>
              </a:rPr>
              <a:t>with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mlflow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start_span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name</a:t>
            </a:r>
            <a:r>
              <a:rPr sz="1100">
                <a:solidFill>
                  <a:srgbClr val="383A42"/>
                </a:solidFill>
                <a:latin typeface="Consolas"/>
              </a:rPr>
              <a:t>=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A626A4"/>
                </a:solidFill>
                <a:latin typeface="Consolas"/>
              </a:rPr>
              <a:t>as</a:t>
            </a:r>
            <a:r>
              <a:rPr sz="1100">
                <a:solidFill>
                  <a:srgbClr val="383A42"/>
                </a:solidFill>
                <a:latin typeface="Consolas"/>
              </a:rPr>
              <a:t> </a:t>
            </a:r>
            <a:r>
              <a:rPr sz="1100">
                <a:solidFill>
                  <a:srgbClr val="383A42"/>
                </a:solidFill>
                <a:latin typeface="Consolas"/>
              </a:rPr>
              <a:t>sp</a:t>
            </a:r>
            <a:r>
              <a:rPr sz="11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  </a:t>
            </a:r>
            <a:r>
              <a:rPr sz="1100">
                <a:solidFill>
                  <a:srgbClr val="383A42"/>
                </a:solidFill>
                <a:latin typeface="Consolas"/>
              </a:rPr>
              <a:t>sp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set_inputs</a:t>
            </a:r>
            <a:r>
              <a:rPr sz="1100">
                <a:solidFill>
                  <a:srgbClr val="383A42"/>
                </a:solidFill>
                <a:latin typeface="Consolas"/>
              </a:rPr>
              <a:t>/</a:t>
            </a:r>
            <a:r>
              <a:rPr sz="1100">
                <a:solidFill>
                  <a:srgbClr val="383A42"/>
                </a:solidFill>
                <a:latin typeface="Consolas"/>
              </a:rPr>
              <a:t>outputs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399"/>
            <a:ext cx="5272887" cy="11430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00399"/>
            <a:ext cx="54864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310127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D4ED8"/>
                </a:solidFill>
                <a:latin typeface="Calibri"/>
              </a:rPr>
              <a:t>3 · Autolog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621023"/>
            <a:ext cx="4815687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mlflow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openai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autolog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mlflow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anthropic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autolog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3200399"/>
            <a:ext cx="5272887" cy="114300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3200399"/>
            <a:ext cx="54864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4759" y="3310127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10" b="1" i="0">
                <a:solidFill>
                  <a:srgbClr val="1D4ED8"/>
                </a:solidFill>
                <a:latin typeface="Calibri"/>
              </a:rPr>
              <a:t>4 · Annotate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3621023"/>
            <a:ext cx="4815687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mlflow</a:t>
            </a:r>
            <a:r>
              <a:rPr sz="1100">
                <a:solidFill>
                  <a:srgbClr val="383A42"/>
                </a:solidFill>
                <a:latin typeface="Consolas"/>
              </a:rPr>
              <a:t>.</a:t>
            </a:r>
            <a:r>
              <a:rPr sz="1100">
                <a:solidFill>
                  <a:srgbClr val="383A42"/>
                </a:solidFill>
                <a:latin typeface="Consolas"/>
              </a:rPr>
              <a:t>update_current_trace</a:t>
            </a:r>
            <a:r>
              <a:rPr sz="1100">
                <a:solidFill>
                  <a:srgbClr val="383A42"/>
                </a:solidFill>
                <a:latin typeface="Consolas"/>
              </a:rPr>
              <a:t>(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83A42"/>
                </a:solidFill>
                <a:latin typeface="Consolas"/>
              </a:rPr>
              <a:t>  </a:t>
            </a:r>
            <a:r>
              <a:rPr sz="1100">
                <a:solidFill>
                  <a:srgbClr val="383A42"/>
                </a:solidFill>
                <a:latin typeface="Consolas"/>
              </a:rPr>
              <a:t>tags</a:t>
            </a:r>
            <a:r>
              <a:rPr sz="1100">
                <a:solidFill>
                  <a:srgbClr val="383A42"/>
                </a:solidFill>
                <a:latin typeface="Consolas"/>
              </a:rPr>
              <a:t>=</a:t>
            </a:r>
            <a:r>
              <a:rPr sz="1100">
                <a:solidFill>
                  <a:srgbClr val="383A42"/>
                </a:solidFill>
                <a:latin typeface="Consolas"/>
              </a:rPr>
              <a:t>{</a:t>
            </a:r>
            <a:r>
              <a:rPr sz="1100">
                <a:solidFill>
                  <a:srgbClr val="2F7D32"/>
                </a:solidFill>
                <a:latin typeface="Consolas"/>
              </a:rPr>
              <a:t>'cost_usd'</a:t>
            </a:r>
            <a:r>
              <a:rPr sz="1100">
                <a:solidFill>
                  <a:srgbClr val="383A42"/>
                </a:solidFill>
                <a:latin typeface="Consolas"/>
              </a:rPr>
              <a:t>:</a:t>
            </a:r>
            <a:r>
              <a:rPr sz="1100">
                <a:solidFill>
                  <a:srgbClr val="2F7D32"/>
                </a:solidFill>
                <a:latin typeface="Consolas"/>
              </a:rPr>
              <a:t>'0.03'</a:t>
            </a:r>
            <a:r>
              <a:rPr sz="1100">
                <a:solidFill>
                  <a:srgbClr val="383A42"/>
                </a:solidFill>
                <a:latin typeface="Consolas"/>
              </a:rPr>
              <a:t>}</a:t>
            </a:r>
            <a:r>
              <a:rPr sz="11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10911535" cy="132588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4782312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" y="4782312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43584" y="4782312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4736592"/>
            <a:ext cx="99056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30" b="1" i="0">
                <a:solidFill>
                  <a:srgbClr val="1D4ED8"/>
                </a:solidFill>
                <a:latin typeface="Calibri"/>
              </a:rPr>
              <a:t>Prompt Registry — version every chain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01768"/>
            <a:ext cx="10399471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pv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mlflow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genai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register_prompt</a:t>
            </a:r>
            <a:r>
              <a:rPr sz="1200">
                <a:solidFill>
                  <a:srgbClr val="383A42"/>
                </a:solidFill>
                <a:latin typeface="Consolas"/>
              </a:rPr>
              <a:t>(</a:t>
            </a:r>
            <a:r>
              <a:rPr sz="1200">
                <a:solidFill>
                  <a:srgbClr val="383A42"/>
                </a:solidFill>
                <a:latin typeface="Consolas"/>
              </a:rPr>
              <a:t>name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2F7D32"/>
                </a:solidFill>
                <a:latin typeface="Consolas"/>
              </a:rPr>
              <a:t>'triage_extract'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template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383A42"/>
                </a:solidFill>
                <a:latin typeface="Consolas"/>
              </a:rPr>
              <a:t>T</a:t>
            </a:r>
            <a:r>
              <a:rPr sz="1200">
                <a:solidFill>
                  <a:srgbClr val="383A42"/>
                </a:solidFill>
                <a:latin typeface="Consolas"/>
              </a:rPr>
              <a:t>,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commit_message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2F7D32"/>
                </a:solidFill>
                <a:latin typeface="Consolas"/>
              </a:rPr>
              <a:t>'v3 fix'</a:t>
            </a:r>
            <a:r>
              <a:rPr sz="1200">
                <a:solidFill>
                  <a:srgbClr val="383A42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200">
                <a:solidFill>
                  <a:srgbClr val="383A42"/>
                </a:solidFill>
                <a:latin typeface="Consolas"/>
              </a:rPr>
              <a:t>EXTRACT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=</a:t>
            </a:r>
            <a:r>
              <a:rPr sz="1200">
                <a:solidFill>
                  <a:srgbClr val="383A42"/>
                </a:solidFill>
                <a:latin typeface="Consolas"/>
              </a:rPr>
              <a:t> </a:t>
            </a:r>
            <a:r>
              <a:rPr sz="1200">
                <a:solidFill>
                  <a:srgbClr val="383A42"/>
                </a:solidFill>
                <a:latin typeface="Consolas"/>
              </a:rPr>
              <a:t>mlflow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genai</a:t>
            </a:r>
            <a:r>
              <a:rPr sz="1200">
                <a:solidFill>
                  <a:srgbClr val="383A42"/>
                </a:solidFill>
                <a:latin typeface="Consolas"/>
              </a:rPr>
              <a:t>.</a:t>
            </a:r>
            <a:r>
              <a:rPr sz="1200">
                <a:solidFill>
                  <a:srgbClr val="383A42"/>
                </a:solidFill>
                <a:latin typeface="Consolas"/>
              </a:rPr>
              <a:t>load_prompt</a:t>
            </a:r>
            <a:r>
              <a:rPr sz="1200">
                <a:solidFill>
                  <a:srgbClr val="383A42"/>
                </a:solidFill>
                <a:latin typeface="Consolas"/>
              </a:rPr>
              <a:t>(</a:t>
            </a:r>
            <a:r>
              <a:rPr sz="1200">
                <a:solidFill>
                  <a:srgbClr val="2F7D32"/>
                </a:solidFill>
                <a:latin typeface="Consolas"/>
              </a:rPr>
              <a:t>f'prompts:/triage_extract/{pv.version}'</a:t>
            </a:r>
            <a:r>
              <a:rPr sz="12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06 —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D4ED8"/>
                </a:solidFill>
                <a:latin typeface="Calibri"/>
              </a:rPr>
              <a:t>PRODUCTION · THE MONDAY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mlflow.genai.evaluate — compare on one eval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Built-in scorers + @scorer. The hand-rolled eval loop is gone.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6949440" cy="329184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03911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" y="2039111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43584" y="2039111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1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30" b="1" i="0">
                <a:solidFill>
                  <a:srgbClr val="1D4ED8"/>
                </a:solidFill>
                <a:latin typeface="Calibri"/>
              </a:rPr>
              <a:t>Pattern 2 — the production eval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58567"/>
            <a:ext cx="6437376" cy="2724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>
                <a:solidFill>
                  <a:srgbClr val="A626A4"/>
                </a:solidFill>
                <a:latin typeface="Consolas"/>
              </a:rPr>
              <a:t>from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mlflow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genai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scorers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import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Correctness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Guidelines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Safety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scorer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TECHNIQUES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{</a:t>
            </a:r>
            <a:r>
              <a:rPr sz="900">
                <a:solidFill>
                  <a:srgbClr val="2F7D32"/>
                </a:solidFill>
                <a:latin typeface="Consolas"/>
              </a:rPr>
              <a:t>'zero_shot_cot'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zsc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F7D32"/>
                </a:solidFill>
                <a:latin typeface="Consolas"/>
              </a:rPr>
              <a:t>'plan_and_solve'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pns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F7D32"/>
                </a:solidFill>
                <a:latin typeface="Consolas"/>
              </a:rPr>
              <a:t>'tot'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tot</a:t>
            </a:r>
            <a:r>
              <a:rPr sz="900">
                <a:solidFill>
                  <a:srgbClr val="383A42"/>
                </a:solidFill>
                <a:latin typeface="Consolas"/>
              </a:rPr>
              <a:t>}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9A6700"/>
                </a:solidFill>
                <a:latin typeface="Consolas"/>
              </a:rPr>
              <a:t>@scorer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A626A4"/>
                </a:solidFill>
                <a:latin typeface="Consolas"/>
              </a:rPr>
              <a:t>def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cites_evidence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outputs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str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-</a:t>
            </a:r>
            <a:r>
              <a:rPr sz="900">
                <a:solidFill>
                  <a:srgbClr val="383A42"/>
                </a:solidFill>
                <a:latin typeface="Consolas"/>
              </a:rPr>
              <a:t>&gt;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bool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</a:t>
            </a:r>
            <a:r>
              <a:rPr sz="900">
                <a:solidFill>
                  <a:srgbClr val="A626A4"/>
                </a:solidFill>
                <a:latin typeface="Consolas"/>
              </a:rPr>
              <a:t>return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2563EB"/>
                </a:solidFill>
                <a:latin typeface="Consolas"/>
              </a:rPr>
              <a:t>bool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2563EB"/>
                </a:solidFill>
                <a:latin typeface="Consolas"/>
              </a:rPr>
              <a:t>re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search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2F7D32"/>
                </a:solidFill>
                <a:latin typeface="Consolas"/>
              </a:rPr>
              <a:t>r'\d{2}:\d{2}'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outputs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   </a:t>
            </a:r>
            <a:r>
              <a:rPr sz="900">
                <a:solidFill>
                  <a:srgbClr val="6B7280"/>
                </a:solidFill>
                <a:latin typeface="Consolas"/>
              </a:rPr>
              <a:t># timestamp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A626A4"/>
                </a:solidFill>
                <a:latin typeface="Consolas"/>
              </a:rPr>
              <a:t>for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name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fn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A626A4"/>
                </a:solidFill>
                <a:latin typeface="Consolas"/>
              </a:rPr>
              <a:t>in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TECHNIQUES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items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</a:t>
            </a:r>
            <a:r>
              <a:rPr sz="900">
                <a:solidFill>
                  <a:srgbClr val="A626A4"/>
                </a:solidFill>
                <a:latin typeface="Consolas"/>
              </a:rPr>
              <a:t>with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mlflow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start_run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run_name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name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    </a:t>
            </a:r>
            <a:r>
              <a:rPr sz="900">
                <a:solidFill>
                  <a:srgbClr val="383A42"/>
                </a:solidFill>
                <a:latin typeface="Consolas"/>
              </a:rPr>
              <a:t>mlflow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genai</a:t>
            </a:r>
            <a:r>
              <a:rPr sz="900">
                <a:solidFill>
                  <a:srgbClr val="383A42"/>
                </a:solidFill>
                <a:latin typeface="Consolas"/>
              </a:rPr>
              <a:t>.</a:t>
            </a:r>
            <a:r>
              <a:rPr sz="900">
                <a:solidFill>
                  <a:srgbClr val="383A42"/>
                </a:solidFill>
                <a:latin typeface="Consolas"/>
              </a:rPr>
              <a:t>evaluate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data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eval_set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predict_fn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fn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900">
                <a:solidFill>
                  <a:srgbClr val="383A42"/>
                </a:solidFill>
                <a:latin typeface="Consolas"/>
              </a:rPr>
              <a:t>            </a:t>
            </a:r>
            <a:r>
              <a:rPr sz="900">
                <a:solidFill>
                  <a:srgbClr val="383A42"/>
                </a:solidFill>
                <a:latin typeface="Consolas"/>
              </a:rPr>
              <a:t>scorers</a:t>
            </a:r>
            <a:r>
              <a:rPr sz="900">
                <a:solidFill>
                  <a:srgbClr val="383A42"/>
                </a:solidFill>
                <a:latin typeface="Consolas"/>
              </a:rPr>
              <a:t>=</a:t>
            </a:r>
            <a:r>
              <a:rPr sz="900">
                <a:solidFill>
                  <a:srgbClr val="383A42"/>
                </a:solidFill>
                <a:latin typeface="Consolas"/>
              </a:rPr>
              <a:t>[</a:t>
            </a:r>
            <a:r>
              <a:rPr sz="900">
                <a:solidFill>
                  <a:srgbClr val="383A42"/>
                </a:solidFill>
                <a:latin typeface="Consolas"/>
              </a:rPr>
              <a:t>Correctness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Safety</a:t>
            </a:r>
            <a:r>
              <a:rPr sz="900">
                <a:solidFill>
                  <a:srgbClr val="383A42"/>
                </a:solidFill>
                <a:latin typeface="Consolas"/>
              </a:rPr>
              <a:t>(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  <a:r>
              <a:rPr sz="900">
                <a:solidFill>
                  <a:srgbClr val="383A42"/>
                </a:solidFill>
                <a:latin typeface="Consolas"/>
              </a:rPr>
              <a:t>,</a:t>
            </a:r>
            <a:r>
              <a:rPr sz="900">
                <a:solidFill>
                  <a:srgbClr val="383A42"/>
                </a:solidFill>
                <a:latin typeface="Consolas"/>
              </a:rPr>
              <a:t> </a:t>
            </a:r>
            <a:r>
              <a:rPr sz="900">
                <a:solidFill>
                  <a:srgbClr val="383A42"/>
                </a:solidFill>
                <a:latin typeface="Consolas"/>
              </a:rPr>
              <a:t>cites_evidence</a:t>
            </a:r>
            <a:r>
              <a:rPr sz="900">
                <a:solidFill>
                  <a:srgbClr val="383A42"/>
                </a:solidFill>
                <a:latin typeface="Consolas"/>
              </a:rPr>
              <a:t>]</a:t>
            </a:r>
            <a:r>
              <a:rPr sz="900">
                <a:solidFill>
                  <a:srgbClr val="383A42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74519"/>
            <a:ext cx="3642055" cy="379476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874519"/>
            <a:ext cx="364205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048256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32304"/>
            <a:ext cx="318485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4ED8"/>
                </a:solidFill>
                <a:latin typeface="Calibri"/>
              </a:rPr>
              <a:t>•  </a:t>
            </a:r>
            <a:r>
              <a:rPr sz="1400" b="1">
                <a:solidFill>
                  <a:srgbClr val="141820"/>
                </a:solidFill>
                <a:latin typeface="Calibri"/>
              </a:rPr>
              <a:t>12 lines</a:t>
            </a:r>
            <a:r>
              <a:rPr sz="1400" b="0">
                <a:solidFill>
                  <a:srgbClr val="141820"/>
                </a:solidFill>
                <a:latin typeface="Calibri"/>
              </a:rPr>
              <a:t> replace any bespoke eval loop.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1D4ED8"/>
                </a:solidFill>
                <a:latin typeface="Calibri"/>
              </a:rPr>
              <a:t>•  </a:t>
            </a:r>
            <a:r>
              <a:rPr sz="1400" b="0">
                <a:solidFill>
                  <a:srgbClr val="141820"/>
                </a:solidFill>
                <a:latin typeface="Calibri"/>
              </a:rPr>
              <a:t>Built-ins: </a:t>
            </a:r>
            <a:r>
              <a:rPr sz="1290" b="0">
                <a:solidFill>
                  <a:srgbClr val="0E7490"/>
                </a:solidFill>
                <a:latin typeface="Consolas"/>
              </a:rPr>
              <a:t>Correctness</a:t>
            </a:r>
            <a:r>
              <a:rPr sz="1400" b="0">
                <a:solidFill>
                  <a:srgbClr val="141820"/>
                </a:solidFill>
                <a:latin typeface="Calibri"/>
              </a:rPr>
              <a:t> · </a:t>
            </a:r>
            <a:r>
              <a:rPr sz="1290" b="0">
                <a:solidFill>
                  <a:srgbClr val="0E7490"/>
                </a:solidFill>
                <a:latin typeface="Consolas"/>
              </a:rPr>
              <a:t>Guidelines</a:t>
            </a:r>
            <a:r>
              <a:rPr sz="1400" b="0">
                <a:solidFill>
                  <a:srgbClr val="141820"/>
                </a:solidFill>
                <a:latin typeface="Calibri"/>
              </a:rPr>
              <a:t> · </a:t>
            </a:r>
            <a:r>
              <a:rPr sz="1290" b="0">
                <a:solidFill>
                  <a:srgbClr val="0E7490"/>
                </a:solidFill>
                <a:latin typeface="Consolas"/>
              </a:rPr>
              <a:t>Safety</a:t>
            </a:r>
            <a:r>
              <a:rPr sz="1400" b="0">
                <a:solidFill>
                  <a:srgbClr val="141820"/>
                </a:solidFill>
                <a:latin typeface="Calibri"/>
              </a:rPr>
              <a:t> · </a:t>
            </a:r>
            <a:r>
              <a:rPr sz="1290" b="0">
                <a:solidFill>
                  <a:srgbClr val="0E7490"/>
                </a:solidFill>
                <a:latin typeface="Consolas"/>
              </a:rPr>
              <a:t>RelevanceToQuery</a:t>
            </a:r>
            <a:r>
              <a:rPr sz="1400" b="0">
                <a:solidFill>
                  <a:srgbClr val="141820"/>
                </a:solidFill>
                <a:latin typeface="Calibri"/>
              </a:rPr>
              <a:t> · </a:t>
            </a:r>
            <a:r>
              <a:rPr sz="1290" b="0">
                <a:solidFill>
                  <a:srgbClr val="0E7490"/>
                </a:solidFill>
                <a:latin typeface="Consolas"/>
              </a:rPr>
              <a:t>Completeness</a:t>
            </a:r>
            <a:r>
              <a:rPr sz="1400" b="0">
                <a:solidFill>
                  <a:srgbClr val="141820"/>
                </a:solidFill>
                <a:latin typeface="Calibri"/>
              </a:rPr>
              <a:t>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1D4ED8"/>
                </a:solidFill>
                <a:latin typeface="Calibri"/>
              </a:rPr>
              <a:t>•  </a:t>
            </a:r>
            <a:r>
              <a:rPr sz="1290" b="0">
                <a:solidFill>
                  <a:srgbClr val="0E7490"/>
                </a:solidFill>
                <a:latin typeface="Consolas"/>
              </a:rPr>
              <a:t>@scorer</a:t>
            </a:r>
            <a:r>
              <a:rPr sz="1400" b="0">
                <a:solidFill>
                  <a:srgbClr val="141820"/>
                </a:solidFill>
                <a:latin typeface="Calibri"/>
              </a:rPr>
              <a:t> turns any boolean assertion into a metric.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1D4ED8"/>
                </a:solidFill>
                <a:latin typeface="Calibri"/>
              </a:rPr>
              <a:t>•  </a:t>
            </a:r>
            <a:r>
              <a:rPr sz="1400" b="0">
                <a:solidFill>
                  <a:srgbClr val="141820"/>
                </a:solidFill>
                <a:latin typeface="Calibri"/>
              </a:rPr>
              <a:t>Custom scorers read trace tags (</a:t>
            </a:r>
            <a:r>
              <a:rPr sz="1290" b="0">
                <a:solidFill>
                  <a:srgbClr val="0E7490"/>
                </a:solidFill>
                <a:latin typeface="Consolas"/>
              </a:rPr>
              <a:t>cost_usd</a:t>
            </a:r>
            <a:r>
              <a:rPr sz="1400" b="0">
                <a:solidFill>
                  <a:srgbClr val="141820"/>
                </a:solidFill>
                <a:latin typeface="Calibri"/>
              </a:rPr>
              <a:t>, latency) — make </a:t>
            </a:r>
            <a:r>
              <a:rPr sz="1400" b="1">
                <a:solidFill>
                  <a:srgbClr val="141820"/>
                </a:solidFill>
                <a:latin typeface="Calibri"/>
              </a:rPr>
              <a:t>cost a first-class metric</a:t>
            </a:r>
            <a:r>
              <a:rPr sz="1400" b="0">
                <a:solidFill>
                  <a:srgbClr val="141820"/>
                </a:solidFill>
                <a:latin typeface="Calibri"/>
              </a:rPr>
              <a:t>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1D4ED8"/>
                </a:solidFill>
                <a:latin typeface="Calibri"/>
              </a:rPr>
              <a:t>•  </a:t>
            </a:r>
            <a:r>
              <a:rPr sz="1400" b="0">
                <a:solidFill>
                  <a:srgbClr val="141820"/>
                </a:solidFill>
                <a:latin typeface="Calibri"/>
              </a:rPr>
              <a:t>Compare runs in MLflow; highest Correctness at lowest cost </a:t>
            </a:r>
            <a:r>
              <a:rPr sz="1400" b="1">
                <a:solidFill>
                  <a:srgbClr val="141820"/>
                </a:solidFill>
                <a:latin typeface="Calibri"/>
              </a:rPr>
              <a:t>ships</a:t>
            </a:r>
            <a:r>
              <a:rPr sz="1400" b="0">
                <a:solidFill>
                  <a:srgbClr val="141820"/>
                </a:solidFill>
                <a:latin typeface="Calibri"/>
              </a:rPr>
              <a:t>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06 —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D4ED8"/>
                </a:solidFill>
                <a:latin typeface="Calibri"/>
              </a:rPr>
              <a:t>PRODUCTION · THE MOST IMPORTANT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1820"/>
                </a:solidFill>
                <a:latin typeface="Calibri"/>
              </a:rPr>
              <a:t>Misconception 0: self-correction needs a 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091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Self-correction without an external verifier degrades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50292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80" b="1" i="0">
                <a:solidFill>
                  <a:srgbClr val="FFFFFF"/>
                </a:solidFill>
                <a:latin typeface="Calibri"/>
              </a:rPr>
              <a:t>Pure “do you think this is right?” loops are not useless — they are harmful.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272887" cy="1325880"/>
          </a:xfrm>
          <a:prstGeom prst="roundRect">
            <a:avLst>
              <a:gd name="adj" fmla="val 4500"/>
            </a:avLst>
          </a:prstGeom>
          <a:solidFill>
            <a:srgbClr val="FEF2F2"/>
          </a:solidFill>
          <a:ln w="12700">
            <a:solidFill>
              <a:srgbClr val="DC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834640"/>
            <a:ext cx="594360" cy="59436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101852" y="2967228"/>
            <a:ext cx="219456" cy="329184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670048"/>
            <a:ext cx="4084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1" i="0">
                <a:solidFill>
                  <a:srgbClr val="B91C1C"/>
                </a:solidFill>
                <a:latin typeface="Calibri"/>
              </a:rPr>
              <a:t>WITHOUT verifier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035808"/>
            <a:ext cx="40841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60" b="0" i="0">
                <a:solidFill>
                  <a:srgbClr val="141820"/>
                </a:solidFill>
                <a:latin typeface="Calibri"/>
              </a:rPr>
              <a:t>−3 pp on GSM8K — the model talks to a mirror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68880"/>
            <a:ext cx="5272887" cy="1325880"/>
          </a:xfrm>
          <a:prstGeom prst="roundRect">
            <a:avLst>
              <a:gd name="adj" fmla="val 4500"/>
            </a:avLst>
          </a:prstGeom>
          <a:solidFill>
            <a:srgbClr val="F0FDF6"/>
          </a:solidFill>
          <a:ln w="12700">
            <a:solidFill>
              <a:srgbClr val="8AB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3047" y="2834640"/>
            <a:ext cx="594360" cy="59436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6740499" y="2967228"/>
            <a:ext cx="219456" cy="329184"/>
          </a:xfrm>
          <a:prstGeom prst="up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0287" y="2670048"/>
            <a:ext cx="4084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1" i="0">
                <a:solidFill>
                  <a:srgbClr val="15803D"/>
                </a:solidFill>
                <a:latin typeface="Calibri"/>
              </a:rPr>
              <a:t>WITH verifier (ruff + tests)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0287" y="3035808"/>
            <a:ext cx="40841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60" b="0" i="0">
                <a:solidFill>
                  <a:srgbClr val="141820"/>
                </a:solidFill>
                <a:latin typeface="Calibri"/>
              </a:rPr>
              <a:t>accuracy climbs — grounded in an external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10911535" cy="1874519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54864" cy="187451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03628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510" b="0">
                <a:solidFill>
                  <a:srgbClr val="141820"/>
                </a:solidFill>
                <a:latin typeface="Calibri"/>
              </a:rPr>
              <a:t>Huang et al. 2023 · arXiv:</a:t>
            </a:r>
            <a:r>
              <a:rPr sz="1510" b="1">
                <a:solidFill>
                  <a:srgbClr val="141820"/>
                </a:solidFill>
                <a:latin typeface="Calibri"/>
              </a:rPr>
              <a:t>2310.01798</a:t>
            </a:r>
            <a:r>
              <a:rPr sz="1510" b="0">
                <a:solidFill>
                  <a:srgbClr val="141820"/>
                </a:solidFill>
                <a:latin typeface="Calibri"/>
              </a:rPr>
              <a:t> — *LLMs Cannot Self-Correct Reasoning Yet*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510" b="1">
                <a:solidFill>
                  <a:srgbClr val="141820"/>
                </a:solidFill>
                <a:latin typeface="Calibri"/>
              </a:rPr>
              <a:t>Affected:</a:t>
            </a:r>
            <a:r>
              <a:rPr sz="1510" b="0">
                <a:solidFill>
                  <a:srgbClr val="141820"/>
                </a:solidFill>
                <a:latin typeface="Calibri"/>
              </a:rPr>
              <a:t> Self-Refine · Constitutional critique · Reflexion · ToT value functions — *all need an external signal*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510" b="1">
                <a:solidFill>
                  <a:srgbClr val="141820"/>
                </a:solidFill>
                <a:latin typeface="Calibri"/>
              </a:rPr>
              <a:t>Acceptable verifiers:</a:t>
            </a:r>
            <a:r>
              <a:rPr sz="1510" b="0">
                <a:solidFill>
                  <a:srgbClr val="141820"/>
                </a:solidFill>
                <a:latin typeface="Calibri"/>
              </a:rPr>
              <a:t> rubric doc · unit-test runner · linter · ground-truth reference · executor · retrieval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510" b="1">
                <a:solidFill>
                  <a:srgbClr val="141820"/>
                </a:solidFill>
                <a:latin typeface="Calibri"/>
              </a:rPr>
              <a:t>Verify in practice:</a:t>
            </a:r>
            <a:r>
              <a:rPr sz="1510" b="0">
                <a:solidFill>
                  <a:srgbClr val="141820"/>
                </a:solidFill>
                <a:latin typeface="Calibri"/>
              </a:rPr>
              <a:t> disable the critic, re-run. If Correctness/mean doesn't improve ≥2 pp on &gt;100 cases, strip the loop.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06 —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1D4ED8"/>
                </a:solidFill>
                <a:latin typeface="Calibri"/>
              </a:rPr>
              <a:t>PRODUCTION · MEMORISE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Practitioner wisdom: the 6 maxims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Memorise before climbing past Rung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6649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46649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1 · Eval set &gt; fancier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15768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The eval is the deliverable; technique is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1965960"/>
            <a:ext cx="346649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2602" y="1965960"/>
            <a:ext cx="346649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3770" y="2148840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2 · Schema-validate every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3770" y="2715768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Pydantic at every boundary. Missing key in step 3 = silent failure in step 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5124" y="1965960"/>
            <a:ext cx="346649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5124" y="1965960"/>
            <a:ext cx="346649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292" y="2148840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3 · Cache at temp=0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292" y="2715768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LLMs are near-deterministic — free correctness, free latency.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346649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49040"/>
            <a:ext cx="346649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931920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4 · Per-step pass-rate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498848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Find the weak step before changing any prompt.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2602" y="3749040"/>
            <a:ext cx="346649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2602" y="3749040"/>
            <a:ext cx="346649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3770" y="3931920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5 · Re-run evals every model bump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3770" y="4498848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Floating aliases are silent bombs.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5124" y="3749040"/>
            <a:ext cx="346649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5124" y="3749040"/>
            <a:ext cx="346649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6292" y="3931920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80" b="1" i="0">
                <a:solidFill>
                  <a:srgbClr val="141820"/>
                </a:solidFill>
                <a:latin typeface="Calibri"/>
              </a:rPr>
              <a:t>6 · Cache yes /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6292" y="4498848"/>
            <a:ext cx="306415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Chain steps &amp; read-only tools = YES. Self-Refine intermediates = NO.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06 —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4338CA"/>
                </a:solidFill>
                <a:latin typeface="Calibri"/>
              </a:rPr>
              <a:t>CLOSING · THE WHOLE SESSION IN THREE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Three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If you remember only this, you have 80% of the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54298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45429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4309" y="2468880"/>
            <a:ext cx="1005840" cy="1005840"/>
          </a:xfrm>
          <a:prstGeom prst="ellipse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4309" y="24688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 i="0">
                <a:solidFill>
                  <a:srgbClr val="0F766E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290565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20" b="1" i="0">
                <a:solidFill>
                  <a:srgbClr val="141820"/>
                </a:solidFill>
                <a:latin typeface="Calibri"/>
              </a:rPr>
              <a:t>Which family fits this failure mode?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Decomposition · Search · Self-Correct · Grounding · Exemplar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103120"/>
            <a:ext cx="3454298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2103120"/>
            <a:ext cx="3454298" cy="548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92927" y="2468880"/>
            <a:ext cx="1005840" cy="1005840"/>
          </a:xfrm>
          <a:prstGeom prst="ellipse">
            <a:avLst/>
          </a:prstGeom>
          <a:solidFill>
            <a:srgbClr val="F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2927" y="24688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 i="0">
                <a:solidFill>
                  <a:srgbClr val="BE185D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3703320"/>
            <a:ext cx="290565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20" b="1" i="0">
                <a:solidFill>
                  <a:srgbClr val="141820"/>
                </a:solidFill>
                <a:latin typeface="Calibri"/>
              </a:rPr>
              <a:t>Do I have a verifier?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018" y="457200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Huang 2310.01798 — without one, self-correct is a noise generator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2103120"/>
            <a:ext cx="3454298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316" y="2103120"/>
            <a:ext cx="345429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1545" y="2468880"/>
            <a:ext cx="1005840" cy="1005840"/>
          </a:xfrm>
          <a:prstGeom prst="ellipse">
            <a:avLst/>
          </a:prstGeom>
          <a:solidFill>
            <a:srgbClr val="DDE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1545" y="246888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 i="0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636" y="3703320"/>
            <a:ext cx="290565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20" b="1" i="0">
                <a:solidFill>
                  <a:srgbClr val="141820"/>
                </a:solidFill>
                <a:latin typeface="Calibri"/>
              </a:rPr>
              <a:t>Am I paying twice on a reasoning model?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457200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444C59"/>
                </a:solidFill>
                <a:latin typeface="Calibri"/>
              </a:rPr>
              <a:t>Drop CoT/ToT/Plan-and-Solve on o1 / o3 / Claude-thinking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07 — Closing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4338CA"/>
                </a:solidFill>
                <a:latin typeface="Calibri"/>
              </a:rPr>
              <a:t>CLOSING ·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Session 7 preview · 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Next: turn these pipelines into production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6400800" cy="3291840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00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41820"/>
                </a:solidFill>
                <a:latin typeface="Calibri"/>
              </a:rPr>
              <a:t>Session 7 — Application Development &amp; Tool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5852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20" b="1">
                <a:solidFill>
                  <a:srgbClr val="4338CA"/>
                </a:solidFill>
                <a:latin typeface="Calibri"/>
              </a:rPr>
              <a:t>•  </a:t>
            </a:r>
            <a:r>
              <a:rPr sz="1620" b="0">
                <a:solidFill>
                  <a:srgbClr val="141820"/>
                </a:solidFill>
                <a:latin typeface="Calibri"/>
              </a:rPr>
              <a:t>Tool schemas — OpenAI function calling, Anthropic tool use, MCP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620" b="1">
                <a:solidFill>
                  <a:srgbClr val="4338CA"/>
                </a:solidFill>
                <a:latin typeface="Calibri"/>
              </a:rPr>
              <a:t>•  </a:t>
            </a:r>
            <a:r>
              <a:rPr sz="1620" b="0">
                <a:solidFill>
                  <a:srgbClr val="141820"/>
                </a:solidFill>
                <a:latin typeface="Calibri"/>
              </a:rPr>
              <a:t>FastAPI endpoints wrapping chains and agents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620" b="1">
                <a:solidFill>
                  <a:srgbClr val="4338CA"/>
                </a:solidFill>
                <a:latin typeface="Calibri"/>
              </a:rPr>
              <a:t>•  </a:t>
            </a:r>
            <a:r>
              <a:rPr sz="1620" b="0">
                <a:solidFill>
                  <a:srgbClr val="141820"/>
                </a:solidFill>
                <a:latin typeface="Calibri"/>
              </a:rPr>
              <a:t>End-to-end observability — MLflow Tracing across HTTP boundaries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620" b="1">
                <a:solidFill>
                  <a:srgbClr val="4338CA"/>
                </a:solidFill>
                <a:latin typeface="Calibri"/>
              </a:rPr>
              <a:t>•  </a:t>
            </a:r>
            <a:r>
              <a:rPr sz="1620" b="0">
                <a:solidFill>
                  <a:srgbClr val="141820"/>
                </a:solidFill>
                <a:latin typeface="Calibri"/>
              </a:rPr>
              <a:t>Cost budgeting and rate-limit defence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2011680"/>
            <a:ext cx="4053535" cy="3291840"/>
          </a:xfrm>
          <a:prstGeom prst="roundRect">
            <a:avLst>
              <a:gd name="adj" fmla="val 4000"/>
            </a:avLst>
          </a:prstGeom>
          <a:solidFill>
            <a:srgbClr val="EC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200" b="1" i="0">
                <a:solidFill>
                  <a:srgbClr val="4338CA"/>
                </a:solidFill>
                <a:latin typeface="Calibri"/>
              </a:rPr>
              <a:t>Q &amp;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3767328"/>
            <a:ext cx="2773375" cy="0"/>
          </a:xfrm>
          <a:prstGeom prst="line">
            <a:avLst/>
          </a:prstGeom>
          <a:ln w="12700">
            <a:solidFill>
              <a:srgbClr val="A19B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63840" y="3977639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30" b="1" i="0">
                <a:solidFill>
                  <a:srgbClr val="4338CA"/>
                </a:solidFill>
                <a:latin typeface="Calibri"/>
              </a:rPr>
              <a:t>TO GET US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4315968"/>
            <a:ext cx="3139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10" b="0" i="1">
                <a:solidFill>
                  <a:srgbClr val="141820"/>
                </a:solidFill>
                <a:latin typeface="Calibri"/>
              </a:rPr>
              <a:t>“Who's running Self-Refine without an external verifier?”
“Who's using ToT on o3 today?”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07 — Closing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4338CA"/>
                </a:solidFill>
                <a:latin typeface="Calibri"/>
              </a:rPr>
              <a:t>BACKUP · FOR THE TECHNICAL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Benchmarks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Every number in this deck, sourced.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28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1" i="0">
                <a:solidFill>
                  <a:srgbClr val="FFFFFF"/>
                </a:solidFill>
                <a:latin typeface="Calibri"/>
              </a:rPr>
              <a:t>Paper · arXiv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828800"/>
            <a:ext cx="49651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90" b="1" i="0">
                <a:solidFill>
                  <a:srgbClr val="FFFFFF"/>
                </a:solidFill>
                <a:latin typeface="Calibri"/>
              </a:rPr>
              <a:t>Headline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10911535" cy="349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86000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ToT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286000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Yao 2023 · 2305.10601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86000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Game-of-24 GPT-4: 4% → </a:t>
            </a:r>
            <a:r>
              <a:rPr sz="1290" b="1">
                <a:solidFill>
                  <a:srgbClr val="141820"/>
                </a:solidFill>
                <a:latin typeface="Calibri"/>
              </a:rPr>
              <a:t>74%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35134"/>
            <a:ext cx="10911535" cy="349134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635134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Least-to-Most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635134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Zhou 2022 · 2205.10625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35134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SCAN: 16.2% → </a:t>
            </a:r>
            <a:r>
              <a:rPr sz="1290" b="1">
                <a:solidFill>
                  <a:srgbClr val="141820"/>
                </a:solidFill>
                <a:latin typeface="Calibri"/>
              </a:rPr>
              <a:t>99.7%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84269"/>
            <a:ext cx="10911535" cy="349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984269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2984269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Yao 2022 · 2210.03629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984269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ALFWorld: </a:t>
            </a:r>
            <a:r>
              <a:rPr sz="1290" b="1">
                <a:solidFill>
                  <a:srgbClr val="141820"/>
                </a:solidFill>
                <a:latin typeface="Calibri"/>
              </a:rPr>
              <a:t>+34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33403"/>
            <a:ext cx="10911535" cy="349134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333403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Reflexion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3333403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Shinn 2023 · 2303.11366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333403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HumanEval pass@1: 80% → </a:t>
            </a:r>
            <a:r>
              <a:rPr sz="1290" b="1">
                <a:solidFill>
                  <a:srgbClr val="141820"/>
                </a:solidFill>
                <a:latin typeface="Calibri"/>
              </a:rPr>
              <a:t>91%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682538"/>
            <a:ext cx="10911535" cy="349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682538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Self-Refine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3682538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Madaan 2023 · 2303.17651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682538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7-task avg: </a:t>
            </a:r>
            <a:r>
              <a:rPr sz="1290" b="1">
                <a:solidFill>
                  <a:srgbClr val="141820"/>
                </a:solidFill>
                <a:latin typeface="Calibri"/>
              </a:rPr>
              <a:t>+20%</a:t>
            </a:r>
            <a:r>
              <a:rPr sz="1290" b="0">
                <a:solidFill>
                  <a:srgbClr val="141820"/>
                </a:solidFill>
                <a:latin typeface="Calibri"/>
              </a:rPr>
              <a:t> (needs verifier)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31672"/>
            <a:ext cx="10911535" cy="349134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31672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Program-of-Thought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144" y="4031672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Chen 2022 · 2211.12588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31672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FinQA: 40.4% → </a:t>
            </a:r>
            <a:r>
              <a:rPr sz="1290" b="1">
                <a:solidFill>
                  <a:srgbClr val="141820"/>
                </a:solidFill>
                <a:latin typeface="Calibri"/>
              </a:rPr>
              <a:t>64.5%</a:t>
            </a:r>
            <a:r>
              <a:rPr sz="1290" b="0">
                <a:solidFill>
                  <a:srgbClr val="141820"/>
                </a:solidFill>
                <a:latin typeface="Calibri"/>
              </a:rPr>
              <a:t> (+24.1)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80807"/>
            <a:ext cx="10911535" cy="349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380807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Step-Back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8144" y="4380807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Zheng 2023 · 2310.06117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380807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TimeQA: </a:t>
            </a:r>
            <a:r>
              <a:rPr sz="1290" b="1">
                <a:solidFill>
                  <a:srgbClr val="141820"/>
                </a:solidFill>
                <a:latin typeface="Calibri"/>
              </a:rPr>
              <a:t>+27 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729941"/>
            <a:ext cx="10911535" cy="349134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729941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Skeleton-of-Thought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38144" y="4729941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Ning 2024 · 2307.15337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4729941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12 LLMs: </a:t>
            </a:r>
            <a:r>
              <a:rPr sz="1290" b="1">
                <a:solidFill>
                  <a:srgbClr val="141820"/>
                </a:solidFill>
                <a:latin typeface="Calibri"/>
              </a:rPr>
              <a:t>2.39× speedup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079076"/>
            <a:ext cx="10911535" cy="349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079076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Plan-and-Solve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38144" y="5079076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Wang 2023 · 2305.04091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5079076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Arithmetic avg: </a:t>
            </a:r>
            <a:r>
              <a:rPr sz="1290" b="1">
                <a:solidFill>
                  <a:srgbClr val="141820"/>
                </a:solidFill>
                <a:latin typeface="Calibri"/>
              </a:rPr>
              <a:t>+9.1 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428210"/>
            <a:ext cx="10911535" cy="349134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5428210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Anthropic think tool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8144" y="5428210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Anthropic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5428210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Tau-Bench airline: </a:t>
            </a:r>
            <a:r>
              <a:rPr sz="1290" b="1">
                <a:solidFill>
                  <a:srgbClr val="141820"/>
                </a:solidFill>
                <a:latin typeface="Calibri"/>
              </a:rPr>
              <a:t>+54% pass^1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5777345"/>
            <a:ext cx="10911535" cy="349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5777345"/>
            <a:ext cx="237744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1">
                <a:solidFill>
                  <a:srgbClr val="141820"/>
                </a:solidFill>
                <a:latin typeface="Calibri"/>
              </a:rPr>
              <a:t>Self-correction caveat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8144" y="5777345"/>
            <a:ext cx="2743200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Huang 2023 · 2310.01798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5664" y="5777345"/>
            <a:ext cx="4965192" cy="34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90" b="0">
                <a:solidFill>
                  <a:srgbClr val="141820"/>
                </a:solidFill>
                <a:latin typeface="Calibri"/>
              </a:rPr>
              <a:t>w/o verifier *degrades*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2286000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40080" y="2635134.5454545454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0080" y="2984269.090909091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0080" y="3333403.6363636367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40080" y="3682538.1818181816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40080" y="4031672.7272727275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0080" y="4380807.272727273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40080" y="4729941.818181818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0080" y="5079076.363636363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40080" y="5428210.909090909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40080" y="5777345.454545455"/>
            <a:ext cx="10911535" cy="0.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40080" y="1828800"/>
            <a:ext cx="10911535" cy="429768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07 — Closing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20624"/>
            <a:ext cx="118872" cy="118872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1" i="0">
                <a:solidFill>
                  <a:srgbClr val="4338CA"/>
                </a:solidFill>
                <a:latin typeface="Calibri"/>
              </a:rPr>
              <a:t>BACKUP · TAKE THE NOTEBOOKS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141820"/>
                </a:solidFill>
                <a:latin typeface="Calibri"/>
              </a:rPr>
              <a:t>The three live demos (for self-study)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235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444C59"/>
                </a:solidFill>
                <a:latin typeface="Calibri"/>
              </a:rPr>
              <a:t>All self-contained. Mock mode if you have no API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54298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454298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21408"/>
            <a:ext cx="30519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90" b="1" i="0">
                <a:solidFill>
                  <a:srgbClr val="4338CA"/>
                </a:solidFill>
                <a:latin typeface="Calibri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33472"/>
            <a:ext cx="30519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39" b="1" i="0">
                <a:solidFill>
                  <a:srgbClr val="141820"/>
                </a:solidFill>
                <a:latin typeface="Calibri"/>
              </a:rPr>
              <a:t>ToT on Game-of-24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00400"/>
            <a:ext cx="305196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1">
                <a:solidFill>
                  <a:srgbClr val="1D4ED8"/>
                </a:solidFill>
                <a:latin typeface="Calibri"/>
              </a:rPr>
              <a:t>demo_01_tot_game_of_24.ipynb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20440"/>
            <a:ext cx="305196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0">
                <a:solidFill>
                  <a:srgbClr val="444C59"/>
                </a:solidFill>
                <a:latin typeface="Calibri"/>
              </a:rPr>
              <a:t>CoT 4% → ToT 74% reveal · ~5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20240"/>
            <a:ext cx="3454298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920240"/>
            <a:ext cx="3454298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9866" y="2121408"/>
            <a:ext cx="30519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90" b="1" i="0">
                <a:solidFill>
                  <a:srgbClr val="4338CA"/>
                </a:solidFill>
                <a:latin typeface="Calibri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633472"/>
            <a:ext cx="30519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39" b="1" i="0">
                <a:solidFill>
                  <a:srgbClr val="141820"/>
                </a:solidFill>
                <a:latin typeface="Calibri"/>
              </a:rPr>
              <a:t>Bug-triage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3200400"/>
            <a:ext cx="305196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1">
                <a:solidFill>
                  <a:srgbClr val="1D4ED8"/>
                </a:solidFill>
                <a:latin typeface="Calibri"/>
              </a:rPr>
              <a:t>demo_02_bug_triage_chain.ipynb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866" y="3520440"/>
            <a:ext cx="305196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0">
                <a:solidFill>
                  <a:srgbClr val="444C59"/>
                </a:solidFill>
                <a:latin typeface="Calibri"/>
              </a:rPr>
              <a:t>3-step Pydantic + retry + registry · ~6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1920240"/>
            <a:ext cx="3454298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316" y="1920240"/>
            <a:ext cx="3454298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2121408"/>
            <a:ext cx="30519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90" b="1" i="0">
                <a:solidFill>
                  <a:srgbClr val="4338CA"/>
                </a:solidFill>
                <a:latin typeface="Calibri"/>
              </a:rPr>
              <a:t>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2633472"/>
            <a:ext cx="30519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39" b="1" i="0">
                <a:solidFill>
                  <a:srgbClr val="141820"/>
                </a:solidFill>
                <a:latin typeface="Calibri"/>
              </a:rPr>
              <a:t>MLflow technique 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8484" y="3200400"/>
            <a:ext cx="305196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1">
                <a:solidFill>
                  <a:srgbClr val="1D4ED8"/>
                </a:solidFill>
                <a:latin typeface="Calibri"/>
              </a:rPr>
              <a:t>demo_03_mlflow_comparison.ipynb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8484" y="3520440"/>
            <a:ext cx="305196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40" b="0" i="0">
                <a:solidFill>
                  <a:srgbClr val="444C59"/>
                </a:solidFill>
                <a:latin typeface="Calibri"/>
              </a:rPr>
              <a:t>genai.evaluate on 4 techniques · ~5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10911535" cy="713232"/>
          </a:xfrm>
          <a:prstGeom prst="roundRect">
            <a:avLst>
              <a:gd name="adj" fmla="val 4500"/>
            </a:avLst>
          </a:prstGeom>
          <a:solidFill>
            <a:srgbClr val="FBFCFD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251960"/>
            <a:ext cx="54864" cy="71323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370832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460" b="1">
                <a:solidFill>
                  <a:srgbClr val="141820"/>
                </a:solidFill>
                <a:latin typeface="Calibri"/>
              </a:rPr>
              <a:t>Optional take-home:</a:t>
            </a:r>
            <a:r>
              <a:rPr sz="1460" b="0">
                <a:solidFill>
                  <a:srgbClr val="141820"/>
                </a:solidFill>
                <a:latin typeface="Calibri"/>
              </a:rPr>
              <a:t> D4 ReAct K8s bot · D5 PoT vs CoT finance · D6 Self-Refine + ruff/mypy · D7 SoT 4× parallel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20640"/>
            <a:ext cx="10911535" cy="566928"/>
          </a:xfrm>
          <a:prstGeom prst="roundRect">
            <a:avLst>
              <a:gd name="adj" fmla="val 12000"/>
            </a:avLst>
          </a:prstGeom>
          <a:solidFill>
            <a:srgbClr val="EC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120640"/>
            <a:ext cx="64008" cy="5669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12064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4338CA"/>
                </a:solidFill>
                <a:latin typeface="Calibri"/>
              </a:rPr>
              <a:t>SHIP IT  </a:t>
            </a:r>
            <a:r>
              <a:rPr sz="1400" b="0">
                <a:solidFill>
                  <a:srgbClr val="0E7490"/>
                </a:solidFill>
                <a:latin typeface="Consolas"/>
              </a:rPr>
              <a:t>pip install -r requirements.txt</a:t>
            </a:r>
            <a:r>
              <a:rPr sz="1510" b="0">
                <a:solidFill>
                  <a:srgbClr val="141820"/>
                </a:solidFill>
                <a:latin typeface="Calibri"/>
              </a:rPr>
              <a:t> · </a:t>
            </a:r>
            <a:r>
              <a:rPr sz="1400" b="0">
                <a:solidFill>
                  <a:srgbClr val="0E7490"/>
                </a:solidFill>
                <a:latin typeface="Consolas"/>
              </a:rPr>
              <a:t>export MLFLOW_TRACKING_URI=… LLM_API_KEY=… LLM_MODEL=…</a:t>
            </a:r>
            <a:r>
              <a:rPr sz="1510" b="0">
                <a:solidFill>
                  <a:srgbClr val="141820"/>
                </a:solidFill>
                <a:latin typeface="Calibri"/>
              </a:rPr>
              <a:t> · </a:t>
            </a:r>
            <a:r>
              <a:rPr sz="1400" b="0">
                <a:solidFill>
                  <a:srgbClr val="0E7490"/>
                </a:solidFill>
                <a:latin typeface="Consolas"/>
              </a:rPr>
              <a:t>jupyter lab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6350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Advanced Prompt Engineering   ·   Block 07 — Closing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145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60" b="0" i="0">
                <a:solidFill>
                  <a:srgbClr val="5C6573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