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Flipped classroom — they did the reading. Today we wire it together. One example, built up in four layers, capped by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list the four failures yourself — ask the room. They'll surface them; you label them as the four layers. This bot is the spine of the whole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for the session. Same example, fixed one layer at a time. Keep repeating the meta-lesson: each cure reproduces something a human does without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prevents you spoiling your own finale. S7 = mechanics; S8 =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Refresher — covered in S3. Key nuance: guarantees the SHAPE, not the TRUTH. The order_id can still be invented. That's what Layers 2–3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decision/execution split hard. 'The model deleted my DB' is a YOUR-CODE failure — it only ever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 that ties to their reading. Callback: Layer 1 is the substrate — a tool call IS structured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gaps, same fix. Then pivot to the hard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intellectual centerpiece. Pose the questions; don't fully answer — provoke. demo_03 shows the numbers (question sits closer to other questions than to its answer; HyDE fixes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staircase: keyword fails → embeddings → but Q≠A → asymmetric/HyDE → exact strings → hybrid → rerank. Punchline: all this to do what a human does in half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and the line to land. S6 chaining = deterministic end of the spectrum; this loop = dynamic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directly to the 'how does a human plan vs how does an agent plan at runtime' question. Full agent architectures = S8.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gap between a wow-demo and something you'd ship. pydantic-ai gives you validate-and-retry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demo_01. If live model risky, USE_TEST_MODEL=1 or the recording. The cells map exactly to the four layers they just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real MLflow UI here. The timeline is the payoff. Tie back to S4.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MCP from the pain of demo_01. The hand-wiring earns the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USB-C / LSP, not 'API for AI' — that blurs into REST calls (which is just function calling).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corrected analogy. The MLflow trace in demo_02 shows list_tools (discovery) and call_tool (call) as spans — prove it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demo_02 + copilot-runbook.md. Show the tool list + Allow/Confirm control. The thing they use daily is this exact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thread. The tool they reach for daily (Copilot) is just this loop with tools and a stop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S7 gave them the pieces; S8 teaches them to architect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Reservoir for Q&amp;A: GraphRAG, contextual retrieval, ColBERT, agentic RAG, RAG evaluation (RAGAS — callback to S4), multi-agent, MCP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3108960" cy="3108960"/>
          </a:xfrm>
          <a:prstGeom prst="ellipse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 FUNDAMENTALS · SESSION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Tool Integration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 — the four pieces that turn an LLM into an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bare LLM, dropped into your support 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“Where's my order #A7731, and can I return part of it?”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LLM: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“Shipped Tuesday, arrives Thursday — and yes, you have 30 days to return it!”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6217920" cy="13716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5720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Plausible. Confident. Entirely invented.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looked up the order, never read your policy, and handed your UI a paragraph it can't act 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680960" y="178308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2057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moment —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your code can't parse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858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the order status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5528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4517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the return policy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95528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5175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guess, no recovery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disease, four cures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your code can't parse → a typed object it can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4884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60920" y="2121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/ function calling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status → call your real systems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4270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(RAG)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584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policy → ground it in your data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9768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60920" y="4270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— the loop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940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guess → sequence, recover, stop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session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5–6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the model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5196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26280" y="21945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TODAY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it into an app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463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output, tools, RAG, the loop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3816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412480" y="21945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325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architectures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7325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vs RAG vs fine-tune vs agents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teaches how to build the pieces. S8 teaches which to reach for — so RAG and agents appear in both, at different altitudes.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STRUCTURED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talks through contracts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endpoint, a function signature, a DB schema — every block expects a fixed shape.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feed free prose into the next block and hope it copes.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must </a:t>
            </a:r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a form, not write a letter.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prose your code can't use: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"Sure! A7731 is on its way..."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contract it CAN: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SupportReply(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intent='order_status',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order_id='A7731',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needs_clarification=True,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message='...'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Session 3's constrained decoding,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serving an app contract.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TOOL / FUNCTION CALLING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model reach your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tool call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 + JSON args)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6908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4632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real function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 / API)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181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321040" y="219456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9536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with the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the decision layer; your code is the execution layer.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touches your DB — that's the whole security story in one line.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FROM RESEARCH TO PRODUCTION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→ function calling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(the research idea)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8803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need the status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get_order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A7731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delivered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now I can answer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'Action' parsed out of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free-form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(production)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guarantees a well-formed call — no regex out of prose.
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call is structured output aimed at your code.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lineage as the ART technique in your reading.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RETRIEVAL (RAG)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knowledge gaps, one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knowledge is frozen — it doesn't know the present world.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never seen your data — policies, orders, docs.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526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text at query time and put it in context. Grounded, current, cited.
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Open-book exam — not smarter, just allowed to check its notes.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THE HARD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question and its answer don't look alike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return an opened item?”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THAT ANSWERS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4871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“Unsealed merchandise may be exchanged within 14 days.”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shared words. A human bridges it instantly; keyword search fails. Even embeddings struggle — questions and answers live in different regions of vector space.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for a human in half a second. A research field for a machine.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THE STACK OF FIXES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fix patches one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18288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meaning, not words — 'budget phone' ≈ 'affordable smartphone'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71600" y="2852928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285292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models / HyDE 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Q→passage, or embed a hypothetical answer instead of the question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3877056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38770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(+ BM25) 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exact strings — SKUs, codes — that embeddings lose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01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71600" y="4901184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4901184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re-scores the shortlist for precision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Pipeline:  hybrid → RRF fusion → cross-encoder rerank → top-k → LLM            (RAG vs fine-tune vs long-context → Session 8)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ORCHESTRATION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a while-loop around an LLM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tools, retrieval, and a stopping condition.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model  →  it requests a tool  →  execute  →  feed result back  →  repeat  →  stop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decode the execution sequence? At runtime, from the query — the way you plan a workflow, but on the fly.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TWO WAYS TO PLAN AT RUNTIME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Decide-as-you-go vs plan-then-do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as you 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Observation, looped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per step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— pivots when a tool surprises it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human trial-and-error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can loop or drift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Plan-and-Execute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upfront, then 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30632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writes the steps; Executor runs them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inspectable, cheaper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project management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— needs explicit replanning on failure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WHAT SEPARATES A DEMO FROM PRODUCTION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holds the resilience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retry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fails its schema or a tool errors → feed the error back, try again.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Ambiguity handling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3154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items?” — ask a clarifying question vs assume. A design decision.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conditions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58200" y="3154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steps, no-progress detection, cost ceilings — or it's an expensive random walk.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68880"/>
            <a:ext cx="1371600" cy="137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4688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2971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support assistant, end to end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87168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→ structured output → tools → RAG → the loop → retry — all in one run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THE LOOP, MADE VISIBLE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of autolog → a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mlflow.pydantic_ai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mlflow.pydantic_ai.autolog()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run → a trace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span tree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LLM request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tool: get_order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LLM request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tool: get_policy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LLM request → final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call, tool call, latency, and token count — nested, on a timeline.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no longer a black box; you can see it think.
</a:t>
            </a:r>
            <a:endParaRPr lang="en-US" sz="1550" dirty="0"/>
          </a:p>
          <a:p>
            <a:pPr indent="0" marL="0">
              <a:buNone/>
            </a:pPr>
            <a:r>
              <a:rPr lang="en-US" sz="15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to Session 4 — this is your monitoring story, now for agents.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STANDARD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hand-wired two tools. Now scale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N×M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tools × 3 apps × 3 models = bespoke glue everywhere. Every model needs custom wiring for every tool.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N + 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8346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and each model implements one protocol — and they all interoperate. Glue collapses.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standard, not an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USB-C for AI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port, any device.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LSP for IDEs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protocol, any editor × any language server. (MCP was inspired by it.)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confuse it with function calling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6974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</a:t>
            </a:r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call one tool you wired by hand.
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</a:t>
            </a:r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so any model talks to any tool — discoverable, swappable. Built on JSON-RPC 2.0; adopted across the industry.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ON THE WIRE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Handshake → discovery →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874520"/>
            <a:ext cx="10149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Handshake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20391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— agree the protocol version &amp; capabilities before any data flows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06840" y="20391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TLS / WebSocket negotiation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71600" y="3246120"/>
            <a:ext cx="10149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9164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34107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 — the server hands back a catalog: each tool with a JSON Schema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34107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reads the menu” (like OpenAPI)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71600" y="4617720"/>
            <a:ext cx="10149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4754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31920" y="4782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tools/call — schema-validated arguments, gated by your approval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4782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decision/execution split as Layer 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71600" y="5989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and discovery are TWO separate steps — the one thing a sharp attendee will catch.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68880"/>
            <a:ext cx="1371600" cy="137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26517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agent, via MCP — then Copilot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87168" y="356616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shows list_tools (discovery) and call_tool (call). Then: your Copilot is an MCP host too — it performs the same handshake and queries the tool list.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failure, four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Unparseable paragraph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status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policy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645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(RAG)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guess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4645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983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SESSION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the building blocks.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which to reach for, and when.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vs RAG vs fine-tuning vs agents — the architecture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github.com/girishponkiya/AI-LLM-Fundamentals-Workshop-Series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&amp; Tool Integration</dc:title>
  <dc:subject>PptxGenJS Presentation</dc:subject>
  <dc:creator>Girish Ponkiya</dc:creator>
  <cp:lastModifiedBy>Girish Ponkiya</cp:lastModifiedBy>
  <cp:revision>1</cp:revision>
  <dcterms:created xsi:type="dcterms:W3CDTF">2026-06-26T05:55:20Z</dcterms:created>
  <dcterms:modified xsi:type="dcterms:W3CDTF">2026-06-26T05:55:20Z</dcterms:modified>
</cp:coreProperties>
</file>